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64441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Generate SBOM is a self-hosted web app that turns a Python project's dependency file into a standards-based software inventory plus security, licence, and currency analysis. This deck covers why we built it, how it works and how it was built, what shipped, and what comes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one-slide version: a dependency file goes in; a standards-based SBOM and a full analysis suite come out, fast, on your own infrastructure. The panel on the right is the whole project in seven 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Three drivers, all pointing the same way: you cannot manage what you cannot see. Security and licence risk hide in the transitive chain, and from 2027 the EU CRA makes an SBOM a condition of selling into Europe. Self-hosting is a deliberate answer to the sensitivity of the data itself.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product is an async pipeline: upload, resolve the full dependency tree, run four analyses in parallel, assemble a standards-based SBOM, then review or export. It's a conventional, boring-on-purpose stack — Django/DRF/Celery with a React UI — speaking open standards and pulling from well-known public data sources.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method mattered as much as the product. Work was decomposed into small, fully-contexted stories; a single toolchain ran the whole project; and an automated gate made it impossible to merge anything that wasn't formatted, typed, linted, security-scanned, and tested above a 90% floor. That discipline is why the result is coherent rather than a pile of features.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result is a complete, deployable product. All fourteen planned epics are done: the SBOM itself, the four analysis reports with Excel export, a multi-tenant access model with a carefully-guarded admin hierarchy, a docs site, and a full REST API. The headline numbers are real, not aspirational.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roadmap is honest and sequenced. Near-term is about making the SBOM continuous (in CI, with drift alerts). Mid-term adds trust: signing and VEX. Longer-term broadens scope beyond Python and picks up the one item we deliberately parked. Every item is a real extension of what already ships — nothing speculative.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 plain-language glossary so the deck stands on its own for a mixed audience — security, legal, and leadership shouldn't need to decode acronyms to follow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Close on the core promise. The product exists, it's deployable today, and it's documented. Open for discussion.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7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41248" y="2084831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D7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100" b="1" i="0">
                <a:solidFill>
                  <a:srgbClr val="FFCD41"/>
                </a:solidFill>
                <a:latin typeface="Helvetica Neue"/>
              </a:rPr>
              <a:t>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880360"/>
            <a:ext cx="1024128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5200" b="1" i="0">
                <a:solidFill>
                  <a:srgbClr val="FFFFFF"/>
                </a:solidFill>
                <a:latin typeface="Helvetica Neue"/>
              </a:rPr>
              <a:t>Generate </a:t>
            </a:r>
            <a:r>
              <a:rPr sz="5200" b="1" i="0">
                <a:solidFill>
                  <a:srgbClr val="D71E28"/>
                </a:solidFill>
                <a:latin typeface="Helvetica Neue"/>
              </a:rPr>
              <a:t>SBOM</a:t>
            </a:r>
          </a:p>
          <a:p>
            <a:pPr>
              <a:spcBef>
                <a:spcPts val="1000"/>
              </a:spcBef>
            </a:pPr>
            <a:r>
              <a:rPr sz="1900" b="0" i="0">
                <a:solidFill>
                  <a:srgbClr val="E7E2DF"/>
                </a:solidFill>
                <a:latin typeface="Helvetica Neue"/>
              </a:rPr>
              <a:t>Know what's inside your software — before someone else has to ask.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5029200"/>
            <a:ext cx="10241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i="0">
                <a:solidFill>
                  <a:srgbClr val="FFCD41"/>
                </a:solidFill>
                <a:latin typeface="Helvetica Neue"/>
              </a:rPr>
              <a:t>Software Bills of Materials for Python</a:t>
            </a:r>
            <a:r>
              <a:rPr sz="1300" b="0" i="0">
                <a:solidFill>
                  <a:srgbClr val="B5ADAD"/>
                </a:solidFill>
                <a:latin typeface="Helvetica Neue"/>
              </a:rPr>
              <a:t>   ·   security, licences, and compliance in one place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199632"/>
            <a:ext cx="10241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i="0">
                <a:solidFill>
                  <a:srgbClr val="B5ADAD"/>
                </a:solidFill>
                <a:latin typeface="Helvetica Neue"/>
              </a:rPr>
              <a:t>Prepared by Kevin Mills</a:t>
            </a:r>
            <a:r>
              <a:rPr sz="1100" b="0" i="0">
                <a:solidFill>
                  <a:srgbClr val="787070"/>
                </a:solidFill>
                <a:latin typeface="Helvetica Neue"/>
              </a:rPr>
              <a:t>     July 2026     ·     Self-hosted  ·  Open source  ·  Apache 2.0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1248" y="566928"/>
            <a:ext cx="1050919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50" b="1" i="0">
                <a:solidFill>
                  <a:srgbClr val="D71E28"/>
                </a:solidFill>
                <a:latin typeface="Helvetica Neue"/>
              </a:rPr>
              <a:t>EXECUTIVE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841248" y="877824"/>
            <a:ext cx="548640" cy="50292"/>
          </a:xfrm>
          <a:prstGeom prst="rect">
            <a:avLst/>
          </a:prstGeom>
          <a:solidFill>
            <a:srgbClr val="FFCD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859536"/>
            <a:ext cx="10509199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700" b="1" i="0">
                <a:solidFill>
                  <a:srgbClr val="141414"/>
                </a:solidFill>
                <a:latin typeface="Helvetica Neue"/>
              </a:rPr>
              <a:t>One dependency file in, a complete inventory 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874519"/>
            <a:ext cx="6263640" cy="2294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6000"/>
              </a:lnSpc>
              <a:spcAft>
                <a:spcPts val="1200"/>
              </a:spcAft>
            </a:pPr>
            <a:r>
              <a:rPr lang="en-US" sz="1400" i="0" dirty="0">
                <a:solidFill>
                  <a:srgbClr val="141414"/>
                </a:solidFill>
                <a:latin typeface="Helvetica Neue"/>
              </a:rPr>
              <a:t>The </a:t>
            </a:r>
            <a:r>
              <a:rPr sz="1400" b="1" i="0" dirty="0">
                <a:solidFill>
                  <a:srgbClr val="141414"/>
                </a:solidFill>
                <a:latin typeface="Helvetica Neue"/>
              </a:rPr>
              <a:t>Generate SBOM</a:t>
            </a:r>
            <a:r>
              <a:rPr sz="1400" b="0" i="0" dirty="0">
                <a:solidFill>
                  <a:srgbClr val="141414"/>
                </a:solidFill>
                <a:latin typeface="Helvetica Neue"/>
              </a:rPr>
              <a:t> </a:t>
            </a:r>
            <a:r>
              <a:rPr lang="en-US" sz="1400" b="0" i="0" dirty="0">
                <a:solidFill>
                  <a:srgbClr val="141414"/>
                </a:solidFill>
                <a:latin typeface="Helvetica Neue"/>
              </a:rPr>
              <a:t>project </a:t>
            </a:r>
            <a:r>
              <a:rPr sz="1400" b="0" i="0" dirty="0">
                <a:solidFill>
                  <a:srgbClr val="141414"/>
                </a:solidFill>
                <a:latin typeface="Helvetica Neue"/>
              </a:rPr>
              <a:t>answers a question most teams can't: </a:t>
            </a:r>
            <a:r>
              <a:rPr sz="1400" b="1" i="0" dirty="0">
                <a:solidFill>
                  <a:srgbClr val="141414"/>
                </a:solidFill>
                <a:latin typeface="Helvetica Neue"/>
              </a:rPr>
              <a:t>what is actually inside this software?</a:t>
            </a:r>
          </a:p>
          <a:p>
            <a:pPr>
              <a:lnSpc>
                <a:spcPct val="116000"/>
              </a:lnSpc>
              <a:spcAft>
                <a:spcPts val="1200"/>
              </a:spcAft>
            </a:pPr>
            <a:r>
              <a:rPr sz="1400" b="0" i="0" dirty="0">
                <a:solidFill>
                  <a:srgbClr val="57514F"/>
                </a:solidFill>
                <a:latin typeface="Helvetica Neue"/>
              </a:rPr>
              <a:t>Upload a project's dependency manifest and, in under two minutes, the system resolves every direct and transitive library and produces a standards-based Bill of Materials alongside vulnerability, licen</a:t>
            </a:r>
            <a:r>
              <a:rPr lang="en-US" sz="1400" b="0" i="0" dirty="0">
                <a:solidFill>
                  <a:srgbClr val="57514F"/>
                </a:solidFill>
                <a:latin typeface="Helvetica Neue"/>
              </a:rPr>
              <a:t>s</a:t>
            </a:r>
            <a:r>
              <a:rPr sz="1400" b="0" i="0" dirty="0">
                <a:solidFill>
                  <a:srgbClr val="57514F"/>
                </a:solidFill>
                <a:latin typeface="Helvetica Neue"/>
              </a:rPr>
              <a:t>e, dependency-graph, and version-currency reports — in one dashboard, exportable, and API-accessible.</a:t>
            </a:r>
          </a:p>
          <a:p>
            <a:pPr>
              <a:lnSpc>
                <a:spcPct val="116000"/>
              </a:lnSpc>
            </a:pPr>
            <a:r>
              <a:rPr sz="1400" b="0" i="0" dirty="0">
                <a:solidFill>
                  <a:srgbClr val="57514F"/>
                </a:solidFill>
                <a:latin typeface="Helvetica Neue"/>
              </a:rPr>
              <a:t>It runs entirely on your own infrastructure. No dependency data leaves your servers, and it deploys with a single </a:t>
            </a:r>
            <a:r>
              <a:rPr sz="1300" b="1" i="0" dirty="0">
                <a:solidFill>
                  <a:srgbClr val="D71E28"/>
                </a:solidFill>
                <a:latin typeface="Courier New"/>
              </a:rPr>
              <a:t>docker compose up</a:t>
            </a:r>
            <a:r>
              <a:rPr sz="1400" b="0" i="0" dirty="0">
                <a:solidFill>
                  <a:srgbClr val="57514F"/>
                </a:solidFill>
                <a:latin typeface="Helvetica Neue"/>
              </a:rPr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52360" y="1874519"/>
            <a:ext cx="3879799" cy="4160520"/>
          </a:xfrm>
          <a:prstGeom prst="roundRect">
            <a:avLst>
              <a:gd name="adj" fmla="val 4500"/>
            </a:avLst>
          </a:prstGeom>
          <a:solidFill>
            <a:srgbClr val="FFF7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452360" y="1874519"/>
            <a:ext cx="73152" cy="4160520"/>
          </a:xfrm>
          <a:prstGeom prst="rect">
            <a:avLst/>
          </a:prstGeom>
          <a:solidFill>
            <a:srgbClr val="D7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836408" y="2139696"/>
            <a:ext cx="3239719" cy="37413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200"/>
              </a:spcAft>
            </a:pPr>
            <a:r>
              <a:rPr sz="1100" b="1" i="0" dirty="0">
                <a:solidFill>
                  <a:srgbClr val="D71E28"/>
                </a:solidFill>
                <a:latin typeface="Helvetica Neue"/>
              </a:rPr>
              <a:t>AT A GLANCE</a:t>
            </a:r>
          </a:p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1150" b="1" i="0" dirty="0">
                <a:solidFill>
                  <a:srgbClr val="D71E28"/>
                </a:solidFill>
                <a:latin typeface="Helvetica Neue"/>
              </a:rPr>
              <a:t>Status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1250" b="0" i="0" dirty="0">
                <a:solidFill>
                  <a:srgbClr val="141414"/>
                </a:solidFill>
                <a:latin typeface="Helvetica Neue"/>
              </a:rPr>
              <a:t>Delivered — 14 epics complete</a:t>
            </a:r>
          </a:p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1150" b="1" i="0" dirty="0">
                <a:solidFill>
                  <a:srgbClr val="D71E28"/>
                </a:solidFill>
                <a:latin typeface="Helvetica Neue"/>
              </a:rPr>
              <a:t>Inputs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1250" b="0" i="0" dirty="0">
                <a:solidFill>
                  <a:srgbClr val="141414"/>
                </a:solidFill>
                <a:latin typeface="Helvetica Neue"/>
              </a:rPr>
              <a:t>5 Python manifest formats</a:t>
            </a:r>
          </a:p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1150" b="1" i="0" dirty="0">
                <a:solidFill>
                  <a:srgbClr val="D71E28"/>
                </a:solidFill>
                <a:latin typeface="Helvetica Neue"/>
              </a:rPr>
              <a:t>Outputs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1250" b="0" i="0" dirty="0" err="1">
                <a:solidFill>
                  <a:srgbClr val="141414"/>
                </a:solidFill>
                <a:latin typeface="Helvetica Neue"/>
              </a:rPr>
              <a:t>CycloneDX</a:t>
            </a:r>
            <a:r>
              <a:rPr sz="1250" b="0" i="0" dirty="0">
                <a:solidFill>
                  <a:srgbClr val="141414"/>
                </a:solidFill>
                <a:latin typeface="Helvetica Neue"/>
              </a:rPr>
              <a:t> JSON/XML · SPDX 2.3</a:t>
            </a:r>
          </a:p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1150" b="1" i="0" dirty="0">
                <a:solidFill>
                  <a:srgbClr val="D71E28"/>
                </a:solidFill>
                <a:latin typeface="Helvetica Neue"/>
              </a:rPr>
              <a:t>Reports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1250" b="0" i="0" dirty="0">
                <a:solidFill>
                  <a:srgbClr val="141414"/>
                </a:solidFill>
                <a:latin typeface="Helvetica Neue"/>
              </a:rPr>
              <a:t>Vulnerabilities, </a:t>
            </a:r>
            <a:r>
              <a:rPr sz="1250" b="0" i="0" dirty="0" err="1">
                <a:solidFill>
                  <a:srgbClr val="141414"/>
                </a:solidFill>
                <a:latin typeface="Helvetica Neue"/>
              </a:rPr>
              <a:t>licences</a:t>
            </a:r>
            <a:r>
              <a:rPr sz="1250" b="0" i="0" dirty="0">
                <a:solidFill>
                  <a:srgbClr val="141414"/>
                </a:solidFill>
                <a:latin typeface="Helvetica Neue"/>
              </a:rPr>
              <a:t>, graph, currency</a:t>
            </a:r>
          </a:p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1150" b="1" i="0" dirty="0">
                <a:solidFill>
                  <a:srgbClr val="D71E28"/>
                </a:solidFill>
                <a:latin typeface="Helvetica Neue"/>
              </a:rPr>
              <a:t>Speed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1250" b="0" i="0" dirty="0">
                <a:solidFill>
                  <a:srgbClr val="141414"/>
                </a:solidFill>
                <a:latin typeface="Helvetica Neue"/>
              </a:rPr>
              <a:t>Results in under 2 minutes</a:t>
            </a:r>
            <a:r>
              <a:rPr lang="en-US" sz="1250" b="0" i="0" dirty="0">
                <a:solidFill>
                  <a:srgbClr val="141414"/>
                </a:solidFill>
                <a:latin typeface="Helvetica Neue"/>
              </a:rPr>
              <a:t> (</a:t>
            </a:r>
            <a:r>
              <a:rPr lang="en-US" sz="1250" b="0" i="1" dirty="0">
                <a:solidFill>
                  <a:srgbClr val="141414"/>
                </a:solidFill>
                <a:latin typeface="Helvetica Neue"/>
              </a:rPr>
              <a:t>average</a:t>
            </a:r>
            <a:r>
              <a:rPr lang="en-US" sz="1250" b="0" i="0" dirty="0">
                <a:solidFill>
                  <a:srgbClr val="141414"/>
                </a:solidFill>
                <a:latin typeface="Helvetica Neue"/>
              </a:rPr>
              <a:t>)</a:t>
            </a:r>
            <a:endParaRPr sz="1250" b="0" i="0" dirty="0">
              <a:solidFill>
                <a:srgbClr val="141414"/>
              </a:solidFill>
              <a:latin typeface="Helvetica Neue"/>
            </a:endParaRPr>
          </a:p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1150" b="1" i="0" dirty="0">
                <a:solidFill>
                  <a:srgbClr val="D71E28"/>
                </a:solidFill>
                <a:latin typeface="Helvetica Neue"/>
              </a:rPr>
              <a:t>Quality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1250" b="0" i="0" dirty="0">
                <a:solidFill>
                  <a:srgbClr val="141414"/>
                </a:solidFill>
                <a:latin typeface="Helvetica Neue"/>
              </a:rPr>
              <a:t>95%+ backend test coverage</a:t>
            </a:r>
          </a:p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1150" b="1" i="0" dirty="0">
                <a:solidFill>
                  <a:srgbClr val="D71E28"/>
                </a:solidFill>
                <a:latin typeface="Helvetica Neue"/>
              </a:rPr>
              <a:t>Model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1250" b="0" i="0" dirty="0">
                <a:solidFill>
                  <a:srgbClr val="141414"/>
                </a:solidFill>
                <a:latin typeface="Helvetica Neue"/>
              </a:rPr>
              <a:t>Multi-tenant, self-hosted, Apache 2.0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6382512"/>
            <a:ext cx="10509199" cy="10972"/>
          </a:xfrm>
          <a:prstGeom prst="rect">
            <a:avLst/>
          </a:prstGeom>
          <a:solidFill>
            <a:srgbClr val="B5AD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" y="643737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1" i="0">
                <a:solidFill>
                  <a:srgbClr val="787070"/>
                </a:solidFill>
                <a:latin typeface="Helvetica Neue"/>
              </a:rPr>
              <a:t>Generate SBOM</a:t>
            </a:r>
            <a:r>
              <a:rPr sz="900" b="0" i="0">
                <a:solidFill>
                  <a:srgbClr val="787070"/>
                </a:solidFill>
                <a:latin typeface="Helvetica Neue"/>
              </a:rPr>
              <a:t>   ·   Project overview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21647" y="6437376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i="0">
                <a:solidFill>
                  <a:srgbClr val="787070"/>
                </a:solidFill>
                <a:latin typeface="Helvetica Neue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1248" y="566928"/>
            <a:ext cx="1050919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50" b="1" i="0" dirty="0">
                <a:solidFill>
                  <a:srgbClr val="D71E28"/>
                </a:solidFill>
                <a:latin typeface="Helvetica Neue"/>
              </a:rPr>
              <a:t>WHY WE DID THIS</a:t>
            </a:r>
          </a:p>
        </p:txBody>
      </p:sp>
      <p:sp>
        <p:nvSpPr>
          <p:cNvPr id="3" name="Rectangle 2"/>
          <p:cNvSpPr/>
          <p:nvPr/>
        </p:nvSpPr>
        <p:spPr>
          <a:xfrm>
            <a:off x="841248" y="877824"/>
            <a:ext cx="548640" cy="50292"/>
          </a:xfrm>
          <a:prstGeom prst="rect">
            <a:avLst/>
          </a:prstGeom>
          <a:solidFill>
            <a:srgbClr val="FFCD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859536"/>
            <a:ext cx="10509199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000" b="1" i="0" dirty="0">
                <a:solidFill>
                  <a:srgbClr val="141414"/>
                </a:solidFill>
                <a:latin typeface="Helvetica Neue"/>
              </a:rPr>
              <a:t>Teams can't secure or certify what they can't see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783080"/>
            <a:ext cx="10509199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</a:pPr>
            <a:r>
              <a:rPr sz="1450" b="0" i="0">
                <a:solidFill>
                  <a:srgbClr val="57514F"/>
                </a:solidFill>
                <a:latin typeface="Helvetica Neue"/>
              </a:rPr>
              <a:t>A modern Python project pulls in hundreds of libraries it never names directly. That invisible chain is exactly where risk — and regulation — now lives.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2697480"/>
            <a:ext cx="3259226" cy="2697480"/>
          </a:xfrm>
          <a:prstGeom prst="roundRect">
            <a:avLst>
              <a:gd name="adj" fmla="val 5000"/>
            </a:avLst>
          </a:prstGeom>
          <a:solidFill>
            <a:srgbClr val="F4F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41248" y="2697480"/>
            <a:ext cx="3259226" cy="82296"/>
          </a:xfrm>
          <a:prstGeom prst="rect">
            <a:avLst/>
          </a:prstGeom>
          <a:solidFill>
            <a:srgbClr val="EB6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52144" y="2962656"/>
            <a:ext cx="2637434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2400" b="1" i="0">
                <a:solidFill>
                  <a:srgbClr val="EB691E"/>
                </a:solidFill>
                <a:latin typeface="Helvetica Neue"/>
              </a:rPr>
              <a:t>01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141414"/>
                </a:solidFill>
                <a:latin typeface="Helvetica Neue"/>
              </a:rPr>
              <a:t>Security exposure</a:t>
            </a:r>
          </a:p>
          <a:p>
            <a:pPr>
              <a:lnSpc>
                <a:spcPct val="112000"/>
              </a:lnSpc>
            </a:pPr>
            <a:r>
              <a:rPr sz="1250" b="0" i="0">
                <a:solidFill>
                  <a:srgbClr val="57514F"/>
                </a:solidFill>
                <a:latin typeface="Helvetica Neue"/>
              </a:rPr>
              <a:t>A single vulnerable library buried deep in the dependency chain is enough to expose a product. Most teams have no fast way to find it until after an incident.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66234" y="2697480"/>
            <a:ext cx="3259226" cy="2697480"/>
          </a:xfrm>
          <a:prstGeom prst="roundRect">
            <a:avLst>
              <a:gd name="adj" fmla="val 5000"/>
            </a:avLst>
          </a:prstGeom>
          <a:solidFill>
            <a:srgbClr val="F4F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66234" y="2697480"/>
            <a:ext cx="3259226" cy="82296"/>
          </a:xfrm>
          <a:prstGeom prst="rect">
            <a:avLst/>
          </a:prstGeom>
          <a:solidFill>
            <a:srgbClr val="D73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77130" y="2962656"/>
            <a:ext cx="2637434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2400" b="1" i="0">
                <a:solidFill>
                  <a:srgbClr val="D73F26"/>
                </a:solidFill>
                <a:latin typeface="Helvetica Neue"/>
              </a:rPr>
              <a:t>02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141414"/>
                </a:solidFill>
                <a:latin typeface="Helvetica Neue"/>
              </a:rPr>
              <a:t>Licence risk</a:t>
            </a:r>
          </a:p>
          <a:p>
            <a:pPr>
              <a:lnSpc>
                <a:spcPct val="112000"/>
              </a:lnSpc>
            </a:pPr>
            <a:r>
              <a:rPr sz="1250" b="0" i="0">
                <a:solidFill>
                  <a:srgbClr val="57514F"/>
                </a:solidFill>
                <a:latin typeface="Helvetica Neue"/>
              </a:rPr>
              <a:t>Some open-source licences carry legal obligations on anyone who ships them. Without a full inventory, legal and compliance teams are working blind.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1220" y="2697480"/>
            <a:ext cx="3259226" cy="2697480"/>
          </a:xfrm>
          <a:prstGeom prst="roundRect">
            <a:avLst>
              <a:gd name="adj" fmla="val 5000"/>
            </a:avLst>
          </a:prstGeom>
          <a:solidFill>
            <a:srgbClr val="F4F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091220" y="2697480"/>
            <a:ext cx="3259226" cy="82296"/>
          </a:xfrm>
          <a:prstGeom prst="rect">
            <a:avLst/>
          </a:prstGeom>
          <a:solidFill>
            <a:srgbClr val="C8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02116" y="2962656"/>
            <a:ext cx="2637434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2400" b="1" i="0">
                <a:solidFill>
                  <a:srgbClr val="C83255"/>
                </a:solidFill>
                <a:latin typeface="Helvetica Neue"/>
              </a:rPr>
              <a:t>03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141414"/>
                </a:solidFill>
                <a:latin typeface="Helvetica Neue"/>
              </a:rPr>
              <a:t>Compliance is now mandatory</a:t>
            </a:r>
          </a:p>
          <a:p>
            <a:pPr>
              <a:lnSpc>
                <a:spcPct val="112000"/>
              </a:lnSpc>
            </a:pPr>
            <a:r>
              <a:rPr sz="1250" b="0" i="0">
                <a:solidFill>
                  <a:srgbClr val="57514F"/>
                </a:solidFill>
                <a:latin typeface="Helvetica Neue"/>
              </a:rPr>
              <a:t>The EU Cyber Resilience Act (in force 2027) requires an SBOM for products sold in the EU, and enterprise buyers increasingly demand one regardless of regulation.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5623560"/>
            <a:ext cx="1050919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i="0">
                <a:solidFill>
                  <a:srgbClr val="141414"/>
                </a:solidFill>
                <a:latin typeface="Helvetica Neue"/>
              </a:rPr>
              <a:t>And because dependency data is sensitive, everything runs self-hosted — nothing leaves your own servers.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1248" y="6382512"/>
            <a:ext cx="10509199" cy="10972"/>
          </a:xfrm>
          <a:prstGeom prst="rect">
            <a:avLst/>
          </a:prstGeom>
          <a:solidFill>
            <a:srgbClr val="B5AD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1248" y="643737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1" i="0">
                <a:solidFill>
                  <a:srgbClr val="787070"/>
                </a:solidFill>
                <a:latin typeface="Helvetica Neue"/>
              </a:rPr>
              <a:t>Generate SBOM</a:t>
            </a:r>
            <a:r>
              <a:rPr sz="900" b="0" i="0">
                <a:solidFill>
                  <a:srgbClr val="787070"/>
                </a:solidFill>
                <a:latin typeface="Helvetica Neue"/>
              </a:rPr>
              <a:t>   ·   Project overview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21647" y="6437376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i="0">
                <a:solidFill>
                  <a:srgbClr val="787070"/>
                </a:solidFill>
                <a:latin typeface="Helvetica Neue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1248" y="566928"/>
            <a:ext cx="1050919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50" b="1" i="0">
                <a:solidFill>
                  <a:srgbClr val="D71E28"/>
                </a:solidFill>
                <a:latin typeface="Helvetica Neue"/>
              </a:rPr>
              <a:t>HOW WE DID THIS — THE PRODUCT</a:t>
            </a:r>
          </a:p>
        </p:txBody>
      </p:sp>
      <p:sp>
        <p:nvSpPr>
          <p:cNvPr id="3" name="Rectangle 2"/>
          <p:cNvSpPr/>
          <p:nvPr/>
        </p:nvSpPr>
        <p:spPr>
          <a:xfrm>
            <a:off x="841248" y="877824"/>
            <a:ext cx="548640" cy="50292"/>
          </a:xfrm>
          <a:prstGeom prst="rect">
            <a:avLst/>
          </a:prstGeom>
          <a:solidFill>
            <a:srgbClr val="FFCD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859536"/>
            <a:ext cx="10509199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000" b="1" i="0">
                <a:solidFill>
                  <a:srgbClr val="141414"/>
                </a:solidFill>
                <a:latin typeface="Helvetica Neue"/>
              </a:rPr>
              <a:t>An asynchronous pipeline from manifest to inventory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2148840"/>
            <a:ext cx="1897014" cy="1371600"/>
          </a:xfrm>
          <a:prstGeom prst="roundRect">
            <a:avLst>
              <a:gd name="adj" fmla="val 8000"/>
            </a:avLst>
          </a:prstGeom>
          <a:solidFill>
            <a:srgbClr val="EB6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/>
            <a:r>
              <a:rPr sz="1200" b="1" i="0" dirty="0">
                <a:solidFill>
                  <a:srgbClr val="FFFFFF"/>
                </a:solidFill>
                <a:latin typeface="Helvetica Neue"/>
              </a:rPr>
              <a:t>1</a:t>
            </a:r>
          </a:p>
          <a:p>
            <a:pPr algn="ctr">
              <a:spcBef>
                <a:spcPts val="200"/>
              </a:spcBef>
            </a:pPr>
            <a:r>
              <a:rPr sz="1450" b="1" i="0" dirty="0">
                <a:solidFill>
                  <a:srgbClr val="FFFFFF"/>
                </a:solidFill>
                <a:latin typeface="Helvetica Neue"/>
              </a:rPr>
              <a:t>Upload</a:t>
            </a:r>
          </a:p>
          <a:p>
            <a:pPr algn="ctr">
              <a:lnSpc>
                <a:spcPct val="102000"/>
              </a:lnSpc>
              <a:spcBef>
                <a:spcPts val="300"/>
              </a:spcBef>
            </a:pPr>
            <a:r>
              <a:rPr sz="950" b="0" i="0" dirty="0" err="1">
                <a:solidFill>
                  <a:srgbClr val="FFF3E8"/>
                </a:solidFill>
                <a:latin typeface="Helvetica Neue"/>
              </a:rPr>
              <a:t>requirements.txt</a:t>
            </a:r>
            <a:r>
              <a:rPr sz="950" b="0" i="0" dirty="0">
                <a:solidFill>
                  <a:srgbClr val="FFF3E8"/>
                </a:solidFill>
                <a:latin typeface="Helvetica Neue"/>
              </a:rPr>
              <a:t>, </a:t>
            </a:r>
            <a:r>
              <a:rPr sz="950" b="0" i="0" dirty="0" err="1">
                <a:solidFill>
                  <a:srgbClr val="FFF3E8"/>
                </a:solidFill>
                <a:latin typeface="Helvetica Neue"/>
              </a:rPr>
              <a:t>pyproject.toml</a:t>
            </a:r>
            <a:r>
              <a:rPr sz="950" b="0" i="0" dirty="0">
                <a:solidFill>
                  <a:srgbClr val="FFF3E8"/>
                </a:solidFill>
                <a:latin typeface="Helvetica Neue"/>
              </a:rPr>
              <a:t>, pixi, or </a:t>
            </a:r>
            <a:r>
              <a:rPr sz="950" b="0" i="0" dirty="0" err="1">
                <a:solidFill>
                  <a:srgbClr val="FFF3E8"/>
                </a:solidFill>
                <a:latin typeface="Helvetica Neue"/>
              </a:rPr>
              <a:t>environment.yml</a:t>
            </a:r>
            <a:endParaRPr sz="950" b="0" i="0" dirty="0">
              <a:solidFill>
                <a:srgbClr val="FFF3E8"/>
              </a:solidFill>
              <a:latin typeface="Helvetica Neue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719974" y="2606040"/>
            <a:ext cx="29260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B5ADAD"/>
                </a:solidFill>
                <a:latin typeface="Helvetica Neue"/>
              </a:rPr>
              <a:t>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94294" y="2148840"/>
            <a:ext cx="1897014" cy="1371600"/>
          </a:xfrm>
          <a:prstGeom prst="roundRect">
            <a:avLst>
              <a:gd name="adj" fmla="val 8000"/>
            </a:avLst>
          </a:prstGeom>
          <a:solidFill>
            <a:srgbClr val="D73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Helvetica Neue"/>
              </a:rPr>
              <a:t>2</a:t>
            </a:r>
          </a:p>
          <a:p>
            <a:pPr algn="ctr">
              <a:spcBef>
                <a:spcPts val="200"/>
              </a:spcBef>
            </a:pPr>
            <a:r>
              <a:rPr sz="1450" b="1" i="0">
                <a:solidFill>
                  <a:srgbClr val="FFFFFF"/>
                </a:solidFill>
                <a:latin typeface="Helvetica Neue"/>
              </a:rPr>
              <a:t>Resolve</a:t>
            </a:r>
          </a:p>
          <a:p>
            <a:pPr algn="ctr">
              <a:lnSpc>
                <a:spcPct val="102000"/>
              </a:lnSpc>
              <a:spcBef>
                <a:spcPts val="300"/>
              </a:spcBef>
            </a:pPr>
            <a:r>
              <a:rPr sz="950" b="0" i="0">
                <a:solidFill>
                  <a:srgbClr val="FFF3E8"/>
                </a:solidFill>
                <a:latin typeface="Helvetica Neue"/>
              </a:rPr>
              <a:t>direct + transitive dependencies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73020" y="2606040"/>
            <a:ext cx="29260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B5ADAD"/>
                </a:solidFill>
                <a:latin typeface="Helvetica Neue"/>
              </a:rP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47340" y="2148840"/>
            <a:ext cx="1897014" cy="1371600"/>
          </a:xfrm>
          <a:prstGeom prst="roundRect">
            <a:avLst>
              <a:gd name="adj" fmla="val 8000"/>
            </a:avLst>
          </a:prstGeom>
          <a:solidFill>
            <a:srgbClr val="C8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Helvetica Neue"/>
              </a:rPr>
              <a:t>3</a:t>
            </a:r>
          </a:p>
          <a:p>
            <a:pPr algn="ctr">
              <a:spcBef>
                <a:spcPts val="200"/>
              </a:spcBef>
            </a:pPr>
            <a:r>
              <a:rPr sz="1450" b="1" i="0">
                <a:solidFill>
                  <a:srgbClr val="FFFFFF"/>
                </a:solidFill>
                <a:latin typeface="Helvetica Neue"/>
              </a:rPr>
              <a:t>Analyse</a:t>
            </a:r>
          </a:p>
          <a:p>
            <a:pPr algn="ctr">
              <a:lnSpc>
                <a:spcPct val="102000"/>
              </a:lnSpc>
              <a:spcBef>
                <a:spcPts val="300"/>
              </a:spcBef>
            </a:pPr>
            <a:r>
              <a:rPr sz="950" b="0" i="0">
                <a:solidFill>
                  <a:srgbClr val="FFF3E8"/>
                </a:solidFill>
                <a:latin typeface="Helvetica Neue"/>
              </a:rPr>
              <a:t>vulnerabilities · licences · graph · currency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26066" y="2606040"/>
            <a:ext cx="29260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B5ADAD"/>
                </a:solidFill>
                <a:latin typeface="Helvetica Neue"/>
              </a:rPr>
              <a:t>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00386" y="2148840"/>
            <a:ext cx="1897014" cy="1371600"/>
          </a:xfrm>
          <a:prstGeom prst="roundRect">
            <a:avLst>
              <a:gd name="adj" fmla="val 8000"/>
            </a:avLst>
          </a:prstGeom>
          <a:solidFill>
            <a:srgbClr val="AA1E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Helvetica Neue"/>
              </a:rPr>
              <a:t>4</a:t>
            </a:r>
          </a:p>
          <a:p>
            <a:pPr algn="ctr">
              <a:spcBef>
                <a:spcPts val="200"/>
              </a:spcBef>
            </a:pPr>
            <a:r>
              <a:rPr sz="1450" b="1" i="0">
                <a:solidFill>
                  <a:srgbClr val="FFFFFF"/>
                </a:solidFill>
                <a:latin typeface="Helvetica Neue"/>
              </a:rPr>
              <a:t>Assemble</a:t>
            </a:r>
          </a:p>
          <a:p>
            <a:pPr algn="ctr">
              <a:lnSpc>
                <a:spcPct val="102000"/>
              </a:lnSpc>
              <a:spcBef>
                <a:spcPts val="300"/>
              </a:spcBef>
            </a:pPr>
            <a:r>
              <a:rPr sz="950" b="0" i="0">
                <a:solidFill>
                  <a:srgbClr val="FFF3E8"/>
                </a:solidFill>
                <a:latin typeface="Helvetica Neue"/>
              </a:rPr>
              <a:t>CycloneDX &amp; SPDX bill of materials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79112" y="2606040"/>
            <a:ext cx="29260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B5ADAD"/>
                </a:solidFill>
                <a:latin typeface="Helvetica Neue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53432" y="2148840"/>
            <a:ext cx="1897014" cy="1371600"/>
          </a:xfrm>
          <a:prstGeom prst="roundRect">
            <a:avLst>
              <a:gd name="adj" fmla="val 8000"/>
            </a:avLst>
          </a:prstGeom>
          <a:solidFill>
            <a:srgbClr val="8232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Helvetica Neue"/>
              </a:rPr>
              <a:t>5</a:t>
            </a:r>
          </a:p>
          <a:p>
            <a:pPr algn="ctr">
              <a:spcBef>
                <a:spcPts val="200"/>
              </a:spcBef>
            </a:pPr>
            <a:r>
              <a:rPr sz="1450" b="1" i="0">
                <a:solidFill>
                  <a:srgbClr val="FFFFFF"/>
                </a:solidFill>
                <a:latin typeface="Helvetica Neue"/>
              </a:rPr>
              <a:t>Review &amp; export</a:t>
            </a:r>
          </a:p>
          <a:p>
            <a:pPr algn="ctr">
              <a:lnSpc>
                <a:spcPct val="102000"/>
              </a:lnSpc>
              <a:spcBef>
                <a:spcPts val="300"/>
              </a:spcBef>
            </a:pPr>
            <a:r>
              <a:rPr sz="950" b="0" i="0">
                <a:solidFill>
                  <a:srgbClr val="FFF3E8"/>
                </a:solidFill>
                <a:latin typeface="Helvetica Neue"/>
              </a:rPr>
              <a:t>dashboard, download, or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3794760"/>
            <a:ext cx="1050919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0" i="0">
                <a:solidFill>
                  <a:srgbClr val="57514F"/>
                </a:solidFill>
                <a:latin typeface="Helvetica Neue"/>
              </a:rPr>
              <a:t>Jobs run in the background, so a large project resolves without blocking — typically in under two minutes.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4526280"/>
            <a:ext cx="10509199" cy="1234440"/>
          </a:xfrm>
          <a:prstGeom prst="roundRect">
            <a:avLst>
              <a:gd name="adj" fmla="val 5000"/>
            </a:avLst>
          </a:prstGeom>
          <a:solidFill>
            <a:srgbClr val="F4F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52144" y="4727448"/>
            <a:ext cx="2954426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500"/>
              </a:spcAft>
            </a:pPr>
            <a:r>
              <a:rPr sz="1050" b="1" i="0">
                <a:solidFill>
                  <a:srgbClr val="D71E28"/>
                </a:solidFill>
                <a:latin typeface="Helvetica Neue"/>
              </a:rPr>
              <a:t>BUILT ON</a:t>
            </a:r>
          </a:p>
          <a:p>
            <a:pPr>
              <a:lnSpc>
                <a:spcPct val="110000"/>
              </a:lnSpc>
            </a:pPr>
            <a:r>
              <a:rPr sz="1200" b="0" i="0">
                <a:solidFill>
                  <a:srgbClr val="141414"/>
                </a:solidFill>
                <a:latin typeface="Helvetica Neue"/>
              </a:rPr>
              <a:t>Django · DRF · Celery on PostgreSQL, Redis &amp; S3-compatible storage; React + TypeScript UI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44314" y="4727448"/>
            <a:ext cx="10972" cy="822960"/>
          </a:xfrm>
          <a:prstGeom prst="rect">
            <a:avLst/>
          </a:prstGeom>
          <a:solidFill>
            <a:srgbClr val="B5AD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655210" y="4727448"/>
            <a:ext cx="2954426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500"/>
              </a:spcAft>
            </a:pPr>
            <a:r>
              <a:rPr sz="1050" b="1" i="0">
                <a:solidFill>
                  <a:srgbClr val="D71E28"/>
                </a:solidFill>
                <a:latin typeface="Helvetica Neue"/>
              </a:rPr>
              <a:t>SPEAKS</a:t>
            </a:r>
          </a:p>
          <a:p>
            <a:pPr>
              <a:lnSpc>
                <a:spcPct val="110000"/>
              </a:lnSpc>
            </a:pPr>
            <a:r>
              <a:rPr sz="1200" b="0" i="0">
                <a:solidFill>
                  <a:srgbClr val="141414"/>
                </a:solidFill>
                <a:latin typeface="Helvetica Neue"/>
              </a:rPr>
              <a:t>CycloneDX (JSON/XML) and SPDX 2.3 — accepted by regulators, buyers, and security tools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47380" y="4727448"/>
            <a:ext cx="10972" cy="822960"/>
          </a:xfrm>
          <a:prstGeom prst="rect">
            <a:avLst/>
          </a:prstGeom>
          <a:solidFill>
            <a:srgbClr val="B5AD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158276" y="4727448"/>
            <a:ext cx="2954426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500"/>
              </a:spcAft>
            </a:pPr>
            <a:r>
              <a:rPr sz="1050" b="1" i="0">
                <a:solidFill>
                  <a:srgbClr val="D71E28"/>
                </a:solidFill>
                <a:latin typeface="Helvetica Neue"/>
              </a:rPr>
              <a:t>SOURCED FROM</a:t>
            </a:r>
          </a:p>
          <a:p>
            <a:pPr>
              <a:lnSpc>
                <a:spcPct val="110000"/>
              </a:lnSpc>
            </a:pPr>
            <a:r>
              <a:rPr sz="1200" b="0" i="0">
                <a:solidFill>
                  <a:srgbClr val="141414"/>
                </a:solidFill>
                <a:latin typeface="Helvetica Neue"/>
              </a:rPr>
              <a:t>OSV · PyPI · conda-forge (prefix.dev) · endoflife.date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1248" y="6382512"/>
            <a:ext cx="10509199" cy="10972"/>
          </a:xfrm>
          <a:prstGeom prst="rect">
            <a:avLst/>
          </a:prstGeom>
          <a:solidFill>
            <a:srgbClr val="B5AD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1248" y="643737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1" i="0">
                <a:solidFill>
                  <a:srgbClr val="787070"/>
                </a:solidFill>
                <a:latin typeface="Helvetica Neue"/>
              </a:rPr>
              <a:t>Generate SBOM</a:t>
            </a:r>
            <a:r>
              <a:rPr sz="900" b="0" i="0">
                <a:solidFill>
                  <a:srgbClr val="787070"/>
                </a:solidFill>
                <a:latin typeface="Helvetica Neue"/>
              </a:rPr>
              <a:t>   ·   Project overview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21647" y="6437376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i="0">
                <a:solidFill>
                  <a:srgbClr val="787070"/>
                </a:solidFill>
                <a:latin typeface="Helvetica Neue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1248" y="566928"/>
            <a:ext cx="1050919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50" b="1" i="0">
                <a:solidFill>
                  <a:srgbClr val="D71E28"/>
                </a:solidFill>
                <a:latin typeface="Helvetica Neue"/>
              </a:rPr>
              <a:t>HOW WE DID THIS — THE DELIVERY</a:t>
            </a:r>
          </a:p>
        </p:txBody>
      </p:sp>
      <p:sp>
        <p:nvSpPr>
          <p:cNvPr id="3" name="Rectangle 2"/>
          <p:cNvSpPr/>
          <p:nvPr/>
        </p:nvSpPr>
        <p:spPr>
          <a:xfrm>
            <a:off x="841248" y="877824"/>
            <a:ext cx="548640" cy="50292"/>
          </a:xfrm>
          <a:prstGeom prst="rect">
            <a:avLst/>
          </a:prstGeom>
          <a:solidFill>
            <a:srgbClr val="FFCD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859536"/>
            <a:ext cx="10509199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000" b="1" i="0">
                <a:solidFill>
                  <a:srgbClr val="141414"/>
                </a:solidFill>
                <a:latin typeface="Helvetica Neue"/>
              </a:rPr>
              <a:t>Small stories, one toolchain, a gate that can't be skipped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920240"/>
            <a:ext cx="6263640" cy="29051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>
              <a:lnSpc>
                <a:spcPct val="106000"/>
              </a:lnSpc>
              <a:spcAft>
                <a:spcPts val="1300"/>
              </a:spcAft>
              <a:buClr>
                <a:srgbClr val="C00000"/>
              </a:buClr>
              <a:buFont typeface="Helvetica Neue Bold" panose="02000503000000020004" pitchFamily="2" charset="0"/>
              <a:buChar char="—"/>
            </a:pPr>
            <a:r>
              <a:rPr sz="1350" b="1" i="0" dirty="0">
                <a:solidFill>
                  <a:srgbClr val="141414"/>
                </a:solidFill>
                <a:latin typeface="Helvetica Neue"/>
              </a:rPr>
              <a:t>Story-driven delivery.</a:t>
            </a:r>
            <a:r>
              <a:rPr sz="1350" b="0" i="0" dirty="0">
                <a:solidFill>
                  <a:srgbClr val="57514F"/>
                </a:solidFill>
                <a:latin typeface="Helvetica Neue"/>
              </a:rPr>
              <a:t>  Every change — feature, fix, or doc — was scoped as a contexted story with explicit acceptance criteria before any code was written.</a:t>
            </a:r>
            <a:endParaRPr lang="en-US" sz="1350" b="0" i="0" dirty="0">
              <a:solidFill>
                <a:srgbClr val="57514F"/>
              </a:solidFill>
              <a:latin typeface="Helvetica Neue"/>
            </a:endParaRPr>
          </a:p>
          <a:p>
            <a:pPr marL="285750" indent="-285750">
              <a:lnSpc>
                <a:spcPct val="106000"/>
              </a:lnSpc>
              <a:spcAft>
                <a:spcPts val="1300"/>
              </a:spcAft>
              <a:buClr>
                <a:srgbClr val="C00000"/>
              </a:buClr>
              <a:buFont typeface="Helvetica Neue Bold" panose="02000503000000020004" pitchFamily="2" charset="0"/>
              <a:buChar char="—"/>
            </a:pPr>
            <a:r>
              <a:rPr sz="1350" b="1" i="0" dirty="0">
                <a:solidFill>
                  <a:srgbClr val="141414"/>
                </a:solidFill>
                <a:latin typeface="Helvetica Neue"/>
              </a:rPr>
              <a:t>One command for everything.</a:t>
            </a:r>
            <a:r>
              <a:rPr sz="1350" b="0" i="0" dirty="0">
                <a:solidFill>
                  <a:srgbClr val="57514F"/>
                </a:solidFill>
                <a:latin typeface="Helvetica Neue"/>
              </a:rPr>
              <a:t>  A single toolchain (pixi) orchestrates both the Python backend and the Node frontend: build, lint, type-check, test, and docs.</a:t>
            </a:r>
            <a:endParaRPr lang="en-US" sz="1350" b="0" i="0" dirty="0">
              <a:solidFill>
                <a:srgbClr val="57514F"/>
              </a:solidFill>
              <a:latin typeface="Helvetica Neue"/>
            </a:endParaRPr>
          </a:p>
          <a:p>
            <a:pPr marL="285750" indent="-285750">
              <a:lnSpc>
                <a:spcPct val="106000"/>
              </a:lnSpc>
              <a:spcAft>
                <a:spcPts val="1300"/>
              </a:spcAft>
              <a:buClr>
                <a:srgbClr val="C00000"/>
              </a:buClr>
              <a:buFont typeface="Helvetica Neue Bold" panose="02000503000000020004" pitchFamily="2" charset="0"/>
              <a:buChar char="—"/>
            </a:pPr>
            <a:r>
              <a:rPr sz="1350" b="1" i="0" dirty="0">
                <a:solidFill>
                  <a:srgbClr val="141414"/>
                </a:solidFill>
                <a:latin typeface="Helvetica Neue"/>
              </a:rPr>
              <a:t>A quality gate on every merge.</a:t>
            </a:r>
            <a:r>
              <a:rPr sz="1350" b="0" i="0" dirty="0">
                <a:solidFill>
                  <a:srgbClr val="57514F"/>
                </a:solidFill>
                <a:latin typeface="Helvetica Neue"/>
              </a:rPr>
              <a:t>  Formatting, strict type-checking, linting, a security scan, and the full test suite must all pass before anything lands — enforced, not optional.</a:t>
            </a:r>
            <a:endParaRPr lang="en-US" sz="1350" b="0" i="0" dirty="0">
              <a:solidFill>
                <a:srgbClr val="57514F"/>
              </a:solidFill>
              <a:latin typeface="Helvetica Neue"/>
            </a:endParaRPr>
          </a:p>
          <a:p>
            <a:pPr marL="285750" indent="-285750">
              <a:lnSpc>
                <a:spcPct val="106000"/>
              </a:lnSpc>
              <a:spcAft>
                <a:spcPts val="1300"/>
              </a:spcAft>
              <a:buClr>
                <a:srgbClr val="C00000"/>
              </a:buClr>
              <a:buFont typeface="Helvetica Neue Bold" panose="02000503000000020004" pitchFamily="2" charset="0"/>
              <a:buChar char="—"/>
            </a:pPr>
            <a:r>
              <a:rPr sz="1350" b="1" i="0" dirty="0">
                <a:solidFill>
                  <a:srgbClr val="141414"/>
                </a:solidFill>
                <a:latin typeface="Helvetica Neue"/>
              </a:rPr>
              <a:t>Reviewed, isolated changes.</a:t>
            </a:r>
            <a:r>
              <a:rPr sz="1350" b="0" i="0" dirty="0">
                <a:solidFill>
                  <a:srgbClr val="57514F"/>
                </a:solidFill>
                <a:latin typeface="Helvetica Neue"/>
              </a:rPr>
              <a:t>  Each feature and fix rode its own branch into a small pull request; nothing was committed straight to the main line.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52360" y="1920240"/>
            <a:ext cx="3879799" cy="3931920"/>
          </a:xfrm>
          <a:prstGeom prst="roundRect">
            <a:avLst>
              <a:gd name="adj" fmla="val 4000"/>
            </a:avLst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836408" y="2194560"/>
            <a:ext cx="314827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i="0">
                <a:solidFill>
                  <a:srgbClr val="FFCD41"/>
                </a:solidFill>
                <a:latin typeface="Helvetica Neue"/>
              </a:rPr>
              <a:t>THE MERGE GATE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36408" y="2697480"/>
            <a:ext cx="3148279" cy="2926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2000"/>
              </a:lnSpc>
              <a:spcAft>
                <a:spcPts val="1000"/>
              </a:spcAft>
            </a:pPr>
            <a:r>
              <a:rPr sz="1400" b="1" i="0">
                <a:solidFill>
                  <a:srgbClr val="FFCD41"/>
                </a:solidFill>
                <a:latin typeface="Helvetica Neue"/>
              </a:rPr>
              <a:t>✓  </a:t>
            </a:r>
            <a:r>
              <a:rPr sz="1300" b="0" i="0">
                <a:solidFill>
                  <a:srgbClr val="FFFFFF"/>
                </a:solidFill>
                <a:latin typeface="Helvetica Neue"/>
              </a:rPr>
              <a:t>format</a:t>
            </a:r>
          </a:p>
          <a:p>
            <a:pPr>
              <a:lnSpc>
                <a:spcPct val="102000"/>
              </a:lnSpc>
              <a:spcAft>
                <a:spcPts val="1000"/>
              </a:spcAft>
            </a:pPr>
            <a:r>
              <a:rPr sz="1400" b="1" i="0">
                <a:solidFill>
                  <a:srgbClr val="FFCD41"/>
                </a:solidFill>
                <a:latin typeface="Helvetica Neue"/>
              </a:rPr>
              <a:t>✓  </a:t>
            </a:r>
            <a:r>
              <a:rPr sz="1300" b="0" i="0">
                <a:solidFill>
                  <a:srgbClr val="FFFFFF"/>
                </a:solidFill>
                <a:latin typeface="Helvetica Neue"/>
              </a:rPr>
              <a:t>type-check (strict)</a:t>
            </a:r>
          </a:p>
          <a:p>
            <a:pPr>
              <a:lnSpc>
                <a:spcPct val="102000"/>
              </a:lnSpc>
              <a:spcAft>
                <a:spcPts val="1000"/>
              </a:spcAft>
            </a:pPr>
            <a:r>
              <a:rPr sz="1400" b="1" i="0">
                <a:solidFill>
                  <a:srgbClr val="FFCD41"/>
                </a:solidFill>
                <a:latin typeface="Helvetica Neue"/>
              </a:rPr>
              <a:t>✓  </a:t>
            </a:r>
            <a:r>
              <a:rPr sz="1300" b="0" i="0">
                <a:solidFill>
                  <a:srgbClr val="FFFFFF"/>
                </a:solidFill>
                <a:latin typeface="Helvetica Neue"/>
              </a:rPr>
              <a:t>lint</a:t>
            </a:r>
          </a:p>
          <a:p>
            <a:pPr>
              <a:lnSpc>
                <a:spcPct val="102000"/>
              </a:lnSpc>
              <a:spcAft>
                <a:spcPts val="1000"/>
              </a:spcAft>
            </a:pPr>
            <a:r>
              <a:rPr sz="1400" b="1" i="0">
                <a:solidFill>
                  <a:srgbClr val="FFCD41"/>
                </a:solidFill>
                <a:latin typeface="Helvetica Neue"/>
              </a:rPr>
              <a:t>✓  </a:t>
            </a:r>
            <a:r>
              <a:rPr sz="1300" b="0" i="0">
                <a:solidFill>
                  <a:srgbClr val="FFFFFF"/>
                </a:solidFill>
                <a:latin typeface="Helvetica Neue"/>
              </a:rPr>
              <a:t>security scan</a:t>
            </a:r>
          </a:p>
          <a:p>
            <a:pPr>
              <a:lnSpc>
                <a:spcPct val="102000"/>
              </a:lnSpc>
              <a:spcAft>
                <a:spcPts val="1000"/>
              </a:spcAft>
            </a:pPr>
            <a:r>
              <a:rPr sz="1400" b="1" i="0">
                <a:solidFill>
                  <a:srgbClr val="FFCD41"/>
                </a:solidFill>
                <a:latin typeface="Helvetica Neue"/>
              </a:rPr>
              <a:t>✓  </a:t>
            </a:r>
            <a:r>
              <a:rPr sz="1300" b="0" i="0">
                <a:solidFill>
                  <a:srgbClr val="FFFFFF"/>
                </a:solidFill>
                <a:latin typeface="Helvetica Neue"/>
              </a:rPr>
              <a:t>full test suite — 90% floor</a:t>
            </a:r>
          </a:p>
          <a:p>
            <a:pPr>
              <a:lnSpc>
                <a:spcPct val="102000"/>
              </a:lnSpc>
              <a:spcAft>
                <a:spcPts val="1000"/>
              </a:spcAft>
            </a:pPr>
            <a:r>
              <a:rPr sz="1400" b="1" i="0">
                <a:solidFill>
                  <a:srgbClr val="FFCD41"/>
                </a:solidFill>
                <a:latin typeface="Helvetica Neue"/>
              </a:rPr>
              <a:t>✓  </a:t>
            </a:r>
            <a:r>
              <a:rPr sz="1300" b="0" i="0">
                <a:solidFill>
                  <a:srgbClr val="FFFFFF"/>
                </a:solidFill>
                <a:latin typeface="Helvetica Neue"/>
              </a:rPr>
              <a:t>package &amp; docs build</a:t>
            </a:r>
          </a:p>
          <a:p>
            <a:pPr>
              <a:spcBef>
                <a:spcPts val="400"/>
              </a:spcBef>
            </a:pPr>
            <a:r>
              <a:rPr sz="1200" b="1" i="1">
                <a:solidFill>
                  <a:srgbClr val="FFDE84"/>
                </a:solidFill>
                <a:latin typeface="Helvetica Neue"/>
              </a:rPr>
              <a:t>Achieved: 95%+ backend coverage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6382512"/>
            <a:ext cx="10509199" cy="10972"/>
          </a:xfrm>
          <a:prstGeom prst="rect">
            <a:avLst/>
          </a:prstGeom>
          <a:solidFill>
            <a:srgbClr val="B5AD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" y="643737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1" i="0">
                <a:solidFill>
                  <a:srgbClr val="787070"/>
                </a:solidFill>
                <a:latin typeface="Helvetica Neue"/>
              </a:rPr>
              <a:t>Generate SBOM</a:t>
            </a:r>
            <a:r>
              <a:rPr sz="900" b="0" i="0">
                <a:solidFill>
                  <a:srgbClr val="787070"/>
                </a:solidFill>
                <a:latin typeface="Helvetica Neue"/>
              </a:rPr>
              <a:t>   ·   Project overview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21647" y="6437376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i="0">
                <a:solidFill>
                  <a:srgbClr val="787070"/>
                </a:solidFill>
                <a:latin typeface="Helvetica Neue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1248" y="566928"/>
            <a:ext cx="1050919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50" b="1" i="0">
                <a:solidFill>
                  <a:srgbClr val="D71E28"/>
                </a:solidFill>
                <a:latin typeface="Helvetica Neue"/>
              </a:rPr>
              <a:t>THE OUTCOME</a:t>
            </a:r>
          </a:p>
        </p:txBody>
      </p:sp>
      <p:sp>
        <p:nvSpPr>
          <p:cNvPr id="3" name="Rectangle 2"/>
          <p:cNvSpPr/>
          <p:nvPr/>
        </p:nvSpPr>
        <p:spPr>
          <a:xfrm>
            <a:off x="841248" y="877824"/>
            <a:ext cx="548640" cy="50292"/>
          </a:xfrm>
          <a:prstGeom prst="rect">
            <a:avLst/>
          </a:prstGeom>
          <a:solidFill>
            <a:srgbClr val="FFCD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859536"/>
            <a:ext cx="10509199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000" b="1" i="0">
                <a:solidFill>
                  <a:srgbClr val="141414"/>
                </a:solidFill>
                <a:latin typeface="Helvetica Neue"/>
              </a:rPr>
              <a:t>A working platform, not a prototype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1828800"/>
            <a:ext cx="1882383" cy="1097280"/>
          </a:xfrm>
          <a:prstGeom prst="roundRect">
            <a:avLst>
              <a:gd name="adj" fmla="val 8000"/>
            </a:avLst>
          </a:prstGeom>
          <a:solidFill>
            <a:srgbClr val="F4F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8" y="1975104"/>
            <a:ext cx="1882383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500" b="1" i="0">
                <a:solidFill>
                  <a:srgbClr val="D71E28"/>
                </a:solidFill>
                <a:latin typeface="Helvetica Neue"/>
              </a:rPr>
              <a:t>14</a:t>
            </a:r>
          </a:p>
          <a:p>
            <a:pPr algn="ctr">
              <a:spcBef>
                <a:spcPts val="200"/>
              </a:spcBef>
            </a:pPr>
            <a:r>
              <a:rPr sz="1100" b="0" i="0">
                <a:solidFill>
                  <a:srgbClr val="57514F"/>
                </a:solidFill>
                <a:latin typeface="Helvetica Neue"/>
              </a:rPr>
              <a:t>epics delivered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97951" y="1828800"/>
            <a:ext cx="1882383" cy="1097280"/>
          </a:xfrm>
          <a:prstGeom prst="roundRect">
            <a:avLst>
              <a:gd name="adj" fmla="val 8000"/>
            </a:avLst>
          </a:prstGeom>
          <a:solidFill>
            <a:srgbClr val="F4F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997951" y="1975104"/>
            <a:ext cx="1882383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500" b="1" i="0">
                <a:solidFill>
                  <a:srgbClr val="D71E28"/>
                </a:solidFill>
                <a:latin typeface="Helvetica Neue"/>
              </a:rPr>
              <a:t>95%+</a:t>
            </a:r>
          </a:p>
          <a:p>
            <a:pPr algn="ctr">
              <a:spcBef>
                <a:spcPts val="200"/>
              </a:spcBef>
            </a:pPr>
            <a:r>
              <a:rPr sz="1100" b="0" i="0">
                <a:solidFill>
                  <a:srgbClr val="57514F"/>
                </a:solidFill>
                <a:latin typeface="Helvetica Neue"/>
              </a:rPr>
              <a:t>test coverage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54655" y="1828800"/>
            <a:ext cx="1882383" cy="1097280"/>
          </a:xfrm>
          <a:prstGeom prst="roundRect">
            <a:avLst>
              <a:gd name="adj" fmla="val 8000"/>
            </a:avLst>
          </a:prstGeom>
          <a:solidFill>
            <a:srgbClr val="F4F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154655" y="1975104"/>
            <a:ext cx="1882383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500" b="1" i="0">
                <a:solidFill>
                  <a:srgbClr val="D71E28"/>
                </a:solidFill>
                <a:latin typeface="Helvetica Neue"/>
              </a:rPr>
              <a:t>5 → 3</a:t>
            </a:r>
          </a:p>
          <a:p>
            <a:pPr algn="ctr">
              <a:spcBef>
                <a:spcPts val="200"/>
              </a:spcBef>
            </a:pPr>
            <a:r>
              <a:rPr sz="1100" b="0" i="0">
                <a:solidFill>
                  <a:srgbClr val="57514F"/>
                </a:solidFill>
                <a:latin typeface="Helvetica Neue"/>
              </a:rPr>
              <a:t>formats in / out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1359" y="1828800"/>
            <a:ext cx="1882383" cy="1097280"/>
          </a:xfrm>
          <a:prstGeom prst="roundRect">
            <a:avLst>
              <a:gd name="adj" fmla="val 8000"/>
            </a:avLst>
          </a:prstGeom>
          <a:solidFill>
            <a:srgbClr val="F4F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1359" y="1975104"/>
            <a:ext cx="1882383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500" b="1" i="0">
                <a:solidFill>
                  <a:srgbClr val="D71E28"/>
                </a:solidFill>
                <a:latin typeface="Helvetica Neue"/>
              </a:rPr>
              <a:t>&lt;2 min</a:t>
            </a:r>
          </a:p>
          <a:p>
            <a:pPr algn="ctr">
              <a:spcBef>
                <a:spcPts val="200"/>
              </a:spcBef>
            </a:pPr>
            <a:r>
              <a:rPr sz="1100" b="0" i="0">
                <a:solidFill>
                  <a:srgbClr val="57514F"/>
                </a:solidFill>
                <a:latin typeface="Helvetica Neue"/>
              </a:rPr>
              <a:t>typical run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68063" y="1828800"/>
            <a:ext cx="1882383" cy="1097280"/>
          </a:xfrm>
          <a:prstGeom prst="roundRect">
            <a:avLst>
              <a:gd name="adj" fmla="val 8000"/>
            </a:avLst>
          </a:prstGeom>
          <a:solidFill>
            <a:srgbClr val="F4F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468063" y="1975104"/>
            <a:ext cx="1882383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500" b="1" i="0">
                <a:solidFill>
                  <a:srgbClr val="D71E28"/>
                </a:solidFill>
                <a:latin typeface="Helvetica Neue"/>
              </a:rPr>
              <a:t>10 days</a:t>
            </a:r>
          </a:p>
          <a:p>
            <a:pPr algn="ctr">
              <a:spcBef>
                <a:spcPts val="200"/>
              </a:spcBef>
            </a:pPr>
            <a:r>
              <a:rPr sz="1100" b="0" i="0">
                <a:solidFill>
                  <a:srgbClr val="57514F"/>
                </a:solidFill>
                <a:latin typeface="Helvetica Neue"/>
              </a:rPr>
              <a:t>auto-retention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3291840"/>
            <a:ext cx="1050919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i="0">
                <a:solidFill>
                  <a:srgbClr val="D71E28"/>
                </a:solidFill>
                <a:latin typeface="Helvetica Neue"/>
              </a:rPr>
              <a:t>WHAT SHIPPED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3639312"/>
            <a:ext cx="5074920" cy="15379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>
              <a:lnSpc>
                <a:spcPct val="106000"/>
              </a:lnSpc>
              <a:spcAft>
                <a:spcPts val="1100"/>
              </a:spcAft>
              <a:buClr>
                <a:srgbClr val="C00000"/>
              </a:buClr>
              <a:buFont typeface="Helvetica Neue Bold" panose="02000503000000020004" pitchFamily="2" charset="0"/>
              <a:buChar char="—"/>
            </a:pPr>
            <a:r>
              <a:rPr sz="1300" b="1" i="0" dirty="0">
                <a:solidFill>
                  <a:srgbClr val="141414"/>
                </a:solidFill>
                <a:latin typeface="Helvetica Neue"/>
              </a:rPr>
              <a:t>Standards-based SBOM</a:t>
            </a:r>
            <a:r>
              <a:rPr sz="1300" b="0" i="0" dirty="0">
                <a:solidFill>
                  <a:srgbClr val="57514F"/>
                </a:solidFill>
                <a:latin typeface="Helvetica Neue"/>
              </a:rPr>
              <a:t>  </a:t>
            </a:r>
            <a:r>
              <a:rPr sz="1300" b="0" i="0" dirty="0" err="1">
                <a:solidFill>
                  <a:srgbClr val="57514F"/>
                </a:solidFill>
                <a:latin typeface="Helvetica Neue"/>
              </a:rPr>
              <a:t>CycloneDX</a:t>
            </a:r>
            <a:r>
              <a:rPr sz="1300" b="0" i="0" dirty="0">
                <a:solidFill>
                  <a:srgbClr val="57514F"/>
                </a:solidFill>
                <a:latin typeface="Helvetica Neue"/>
              </a:rPr>
              <a:t> JSON/XML and SPDX 2.3</a:t>
            </a:r>
            <a:endParaRPr lang="en-US" sz="1300" b="0" i="0" dirty="0">
              <a:solidFill>
                <a:srgbClr val="57514F"/>
              </a:solidFill>
              <a:latin typeface="Helvetica Neue"/>
            </a:endParaRPr>
          </a:p>
          <a:p>
            <a:pPr marL="285750" indent="-285750">
              <a:lnSpc>
                <a:spcPct val="106000"/>
              </a:lnSpc>
              <a:spcAft>
                <a:spcPts val="1100"/>
              </a:spcAft>
              <a:buClr>
                <a:srgbClr val="C00000"/>
              </a:buClr>
              <a:buFont typeface="Helvetica Neue Bold" panose="02000503000000020004" pitchFamily="2" charset="0"/>
              <a:buChar char="—"/>
            </a:pPr>
            <a:r>
              <a:rPr lang="en-US" sz="1300" b="1" dirty="0">
                <a:solidFill>
                  <a:srgbClr val="57514F"/>
                </a:solidFill>
                <a:latin typeface="Helvetica Neue"/>
              </a:rPr>
              <a:t>V</a:t>
            </a:r>
            <a:r>
              <a:rPr sz="1300" b="1" dirty="0">
                <a:solidFill>
                  <a:srgbClr val="57514F"/>
                </a:solidFill>
                <a:latin typeface="Helvetica Neue"/>
              </a:rPr>
              <a:t>iewable in-app or </a:t>
            </a:r>
            <a:r>
              <a:rPr sz="1300" b="1" i="0" dirty="0">
                <a:solidFill>
                  <a:srgbClr val="57514F"/>
                </a:solidFill>
                <a:latin typeface="Helvetica Neue"/>
              </a:rPr>
              <a:t>downloadable</a:t>
            </a:r>
            <a:r>
              <a:rPr sz="1300" b="0" i="0" dirty="0">
                <a:solidFill>
                  <a:srgbClr val="57514F"/>
                </a:solidFill>
                <a:latin typeface="Helvetica Neue"/>
              </a:rPr>
              <a:t>, now with per-component</a:t>
            </a:r>
            <a:r>
              <a:rPr lang="en-US" sz="1300" b="0" i="0" dirty="0">
                <a:solidFill>
                  <a:srgbClr val="57514F"/>
                </a:solidFill>
                <a:latin typeface="Helvetica Neue"/>
              </a:rPr>
              <a:t> </a:t>
            </a:r>
            <a:r>
              <a:rPr sz="1300" b="0" i="0" dirty="0">
                <a:solidFill>
                  <a:srgbClr val="57514F"/>
                </a:solidFill>
                <a:latin typeface="Helvetica Neue"/>
              </a:rPr>
              <a:t>licen</a:t>
            </a:r>
            <a:r>
              <a:rPr lang="en-US" sz="1300" b="0" i="0" dirty="0">
                <a:solidFill>
                  <a:srgbClr val="57514F"/>
                </a:solidFill>
                <a:latin typeface="Helvetica Neue"/>
              </a:rPr>
              <a:t>s</a:t>
            </a:r>
            <a:r>
              <a:rPr sz="1300" b="0" i="0" dirty="0">
                <a:solidFill>
                  <a:srgbClr val="57514F"/>
                </a:solidFill>
                <a:latin typeface="Helvetica Neue"/>
              </a:rPr>
              <a:t>es embedded in the document.</a:t>
            </a:r>
            <a:endParaRPr lang="en-US" sz="1300" b="0" i="0" dirty="0">
              <a:solidFill>
                <a:srgbClr val="57514F"/>
              </a:solidFill>
              <a:latin typeface="Helvetica Neue"/>
            </a:endParaRPr>
          </a:p>
          <a:p>
            <a:pPr marL="285750" indent="-285750">
              <a:lnSpc>
                <a:spcPct val="106000"/>
              </a:lnSpc>
              <a:spcAft>
                <a:spcPts val="1100"/>
              </a:spcAft>
              <a:buClr>
                <a:srgbClr val="C00000"/>
              </a:buClr>
              <a:buFont typeface="Helvetica Neue Bold" panose="02000503000000020004" pitchFamily="2" charset="0"/>
              <a:buChar char="—"/>
            </a:pPr>
            <a:r>
              <a:rPr sz="1300" b="1" i="0" dirty="0">
                <a:solidFill>
                  <a:srgbClr val="141414"/>
                </a:solidFill>
                <a:latin typeface="Helvetica Neue"/>
              </a:rPr>
              <a:t>The full report suite</a:t>
            </a:r>
            <a:r>
              <a:rPr sz="1300" b="0" i="0" dirty="0">
                <a:solidFill>
                  <a:srgbClr val="57514F"/>
                </a:solidFill>
                <a:latin typeface="Helvetica Neue"/>
              </a:rPr>
              <a:t>  Vulnerabilities, licen</a:t>
            </a:r>
            <a:r>
              <a:rPr lang="en-US" sz="1300" b="0" i="0" dirty="0">
                <a:solidFill>
                  <a:srgbClr val="57514F"/>
                </a:solidFill>
                <a:latin typeface="Helvetica Neue"/>
              </a:rPr>
              <a:t>s</a:t>
            </a:r>
            <a:r>
              <a:rPr sz="1300" b="0" i="0" dirty="0">
                <a:solidFill>
                  <a:srgbClr val="57514F"/>
                </a:solidFill>
                <a:latin typeface="Helvetica Neue"/>
              </a:rPr>
              <a:t>es, dependency graph, and version currency — each with a formatted Excel export.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36208" y="3639312"/>
            <a:ext cx="5074920" cy="1396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>
              <a:lnSpc>
                <a:spcPct val="106000"/>
              </a:lnSpc>
              <a:spcAft>
                <a:spcPts val="1100"/>
              </a:spcAft>
              <a:buClr>
                <a:srgbClr val="C00000"/>
              </a:buClr>
              <a:buFont typeface="Helvetica Neue Bold" panose="02000503000000020004" pitchFamily="2" charset="0"/>
              <a:buChar char="—"/>
            </a:pPr>
            <a:r>
              <a:rPr sz="1300" b="1" i="0" dirty="0">
                <a:solidFill>
                  <a:srgbClr val="141414"/>
                </a:solidFill>
                <a:latin typeface="Helvetica Neue"/>
              </a:rPr>
              <a:t>Multi-tenant access</a:t>
            </a:r>
            <a:r>
              <a:rPr sz="1300" b="0" i="0" dirty="0">
                <a:solidFill>
                  <a:srgbClr val="57514F"/>
                </a:solidFill>
                <a:latin typeface="Helvetica Neue"/>
              </a:rPr>
              <a:t>  Full isolation between organi</a:t>
            </a:r>
            <a:r>
              <a:rPr lang="en-US" sz="1300" b="0" i="0" dirty="0">
                <a:solidFill>
                  <a:srgbClr val="57514F"/>
                </a:solidFill>
                <a:latin typeface="Helvetica Neue"/>
              </a:rPr>
              <a:t>z</a:t>
            </a:r>
            <a:r>
              <a:rPr sz="1300" b="0" i="0" dirty="0">
                <a:solidFill>
                  <a:srgbClr val="57514F"/>
                </a:solidFill>
                <a:latin typeface="Helvetica Neue"/>
              </a:rPr>
              <a:t>ations and a guarded two-tier admin model (organization admin and global administrator).</a:t>
            </a:r>
            <a:endParaRPr lang="en-US" sz="1300" b="0" i="0" dirty="0">
              <a:solidFill>
                <a:srgbClr val="57514F"/>
              </a:solidFill>
              <a:latin typeface="Helvetica Neue"/>
            </a:endParaRPr>
          </a:p>
          <a:p>
            <a:pPr marL="285750" indent="-285750">
              <a:lnSpc>
                <a:spcPct val="106000"/>
              </a:lnSpc>
              <a:spcAft>
                <a:spcPts val="1100"/>
              </a:spcAft>
              <a:buClr>
                <a:srgbClr val="C00000"/>
              </a:buClr>
              <a:buFont typeface="Helvetica Neue Bold" panose="02000503000000020004" pitchFamily="2" charset="0"/>
              <a:buChar char="—"/>
            </a:pPr>
            <a:r>
              <a:rPr sz="1300" b="1" i="0" dirty="0">
                <a:solidFill>
                  <a:srgbClr val="141414"/>
                </a:solidFill>
                <a:latin typeface="Helvetica Neue"/>
              </a:rPr>
              <a:t>Docs, API &amp; deploy</a:t>
            </a:r>
            <a:r>
              <a:rPr sz="1300" b="0" i="0" dirty="0">
                <a:solidFill>
                  <a:srgbClr val="57514F"/>
                </a:solidFill>
                <a:latin typeface="Helvetica Neue"/>
              </a:rPr>
              <a:t>  A published documentation site, a complete REST API with an interactive schema, and a one-command docker compose deployment.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" y="6382512"/>
            <a:ext cx="10509199" cy="10972"/>
          </a:xfrm>
          <a:prstGeom prst="rect">
            <a:avLst/>
          </a:prstGeom>
          <a:solidFill>
            <a:srgbClr val="B5AD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1248" y="643737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1" i="0">
                <a:solidFill>
                  <a:srgbClr val="787070"/>
                </a:solidFill>
                <a:latin typeface="Helvetica Neue"/>
              </a:rPr>
              <a:t>Generate SBOM</a:t>
            </a:r>
            <a:r>
              <a:rPr sz="900" b="0" i="0">
                <a:solidFill>
                  <a:srgbClr val="787070"/>
                </a:solidFill>
                <a:latin typeface="Helvetica Neue"/>
              </a:rPr>
              <a:t>   ·   Project overview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21647" y="6437376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i="0">
                <a:solidFill>
                  <a:srgbClr val="787070"/>
                </a:solidFill>
                <a:latin typeface="Helvetica Neue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1248" y="566928"/>
            <a:ext cx="1050919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50" b="1" i="0">
                <a:solidFill>
                  <a:srgbClr val="D71E28"/>
                </a:solidFill>
                <a:latin typeface="Helvetica Neue"/>
              </a:rPr>
              <a:t>WHAT COMES NEXT</a:t>
            </a:r>
          </a:p>
        </p:txBody>
      </p:sp>
      <p:sp>
        <p:nvSpPr>
          <p:cNvPr id="3" name="Rectangle 2"/>
          <p:cNvSpPr/>
          <p:nvPr/>
        </p:nvSpPr>
        <p:spPr>
          <a:xfrm>
            <a:off x="841248" y="877824"/>
            <a:ext cx="548640" cy="50292"/>
          </a:xfrm>
          <a:prstGeom prst="rect">
            <a:avLst/>
          </a:prstGeom>
          <a:solidFill>
            <a:srgbClr val="FFCD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859536"/>
            <a:ext cx="10509199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000" b="1" i="0">
                <a:solidFill>
                  <a:srgbClr val="141414"/>
                </a:solidFill>
                <a:latin typeface="Helvetica Neue"/>
              </a:rPr>
              <a:t>From inventory to continuous assurance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1920240"/>
            <a:ext cx="3259226" cy="3703320"/>
          </a:xfrm>
          <a:prstGeom prst="roundRect">
            <a:avLst>
              <a:gd name="adj" fmla="val 4000"/>
            </a:avLst>
          </a:prstGeom>
          <a:solidFill>
            <a:srgbClr val="F4F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41248" y="1920240"/>
            <a:ext cx="3259226" cy="457200"/>
          </a:xfrm>
          <a:prstGeom prst="roundRect">
            <a:avLst>
              <a:gd name="adj" fmla="val 0"/>
            </a:avLst>
          </a:prstGeom>
          <a:solidFill>
            <a:srgbClr val="D7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1975104"/>
            <a:ext cx="325922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Helvetica Neue"/>
              </a:rPr>
              <a:t>NEAR-TERM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" y="2578608"/>
            <a:ext cx="2674010" cy="2926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350" b="1" i="0">
                <a:solidFill>
                  <a:srgbClr val="141414"/>
                </a:solidFill>
                <a:latin typeface="Helvetica Neue"/>
              </a:rPr>
              <a:t>SBOM in the pipeline</a:t>
            </a:r>
          </a:p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150" b="0" i="0">
                <a:solidFill>
                  <a:srgbClr val="57514F"/>
                </a:solidFill>
                <a:latin typeface="Helvetica Neue"/>
              </a:rPr>
              <a:t>Generate and gate on every build through the API and CI, so the inventory is never stale.</a:t>
            </a:r>
          </a:p>
          <a:p>
            <a:pPr>
              <a:spcAft>
                <a:spcPts val="400"/>
              </a:spcAft>
            </a:pPr>
            <a:r>
              <a:rPr sz="1350" b="1" i="0">
                <a:solidFill>
                  <a:srgbClr val="141414"/>
                </a:solidFill>
                <a:latin typeface="Helvetica Neue"/>
              </a:rPr>
              <a:t>Scheduled re-scans &amp; drift alerts</a:t>
            </a:r>
          </a:p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150" b="0" i="0">
                <a:solidFill>
                  <a:srgbClr val="57514F"/>
                </a:solidFill>
                <a:latin typeface="Helvetica Neue"/>
              </a:rPr>
              <a:t>Re-check existing projects and notify when a new vulnerability lands on a dependency you already ship.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66234" y="1920240"/>
            <a:ext cx="3259226" cy="3703320"/>
          </a:xfrm>
          <a:prstGeom prst="roundRect">
            <a:avLst>
              <a:gd name="adj" fmla="val 4000"/>
            </a:avLst>
          </a:prstGeom>
          <a:solidFill>
            <a:srgbClr val="F4F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466234" y="1920240"/>
            <a:ext cx="3259226" cy="457200"/>
          </a:xfrm>
          <a:prstGeom prst="roundRect">
            <a:avLst>
              <a:gd name="adj" fmla="val 0"/>
            </a:avLst>
          </a:prstGeom>
          <a:solidFill>
            <a:srgbClr val="C8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66234" y="1975104"/>
            <a:ext cx="325922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Helvetica Neue"/>
              </a:rPr>
              <a:t>MID-TERM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8842" y="2578608"/>
            <a:ext cx="2674010" cy="1849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350" b="1" i="0" dirty="0">
                <a:solidFill>
                  <a:srgbClr val="141414"/>
                </a:solidFill>
                <a:latin typeface="Helvetica Neue"/>
              </a:rPr>
              <a:t>Signing &amp; provenance</a:t>
            </a:r>
          </a:p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150" b="0" i="0" dirty="0">
                <a:solidFill>
                  <a:srgbClr val="57514F"/>
                </a:solidFill>
                <a:latin typeface="Helvetica Neue"/>
              </a:rPr>
              <a:t>Attest SBOMs (</a:t>
            </a:r>
            <a:r>
              <a:rPr lang="en-US" sz="1150" b="0" i="0" dirty="0">
                <a:solidFill>
                  <a:srgbClr val="57514F"/>
                </a:solidFill>
                <a:latin typeface="Helvetica Neue"/>
              </a:rPr>
              <a:t>e.g.,</a:t>
            </a:r>
            <a:r>
              <a:rPr sz="1150" b="0" i="0" dirty="0">
                <a:solidFill>
                  <a:srgbClr val="57514F"/>
                </a:solidFill>
                <a:latin typeface="Helvetica Neue"/>
              </a:rPr>
              <a:t> Sigstore) so downstream consumers can trust where they came from.</a:t>
            </a:r>
          </a:p>
          <a:p>
            <a:pPr>
              <a:spcAft>
                <a:spcPts val="400"/>
              </a:spcAft>
            </a:pPr>
            <a:r>
              <a:rPr sz="1350" b="1" i="0" dirty="0">
                <a:solidFill>
                  <a:srgbClr val="141414"/>
                </a:solidFill>
                <a:latin typeface="Helvetica Neue"/>
              </a:rPr>
              <a:t>VEX support</a:t>
            </a:r>
          </a:p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150" b="0" i="0" dirty="0">
                <a:solidFill>
                  <a:srgbClr val="57514F"/>
                </a:solidFill>
                <a:latin typeface="Helvetica Neue"/>
              </a:rPr>
              <a:t>Record exploitability so teams triage the vulnerabilities that </a:t>
            </a:r>
            <a:r>
              <a:rPr lang="en-US" sz="1150" b="0" i="0" dirty="0">
                <a:solidFill>
                  <a:srgbClr val="57514F"/>
                </a:solidFill>
                <a:latin typeface="Helvetica Neue"/>
              </a:rPr>
              <a:t>affect</a:t>
            </a:r>
            <a:r>
              <a:rPr sz="1150" b="0" i="0" dirty="0">
                <a:solidFill>
                  <a:srgbClr val="57514F"/>
                </a:solidFill>
                <a:latin typeface="Helvetica Neue"/>
              </a:rPr>
              <a:t> them, not just the ones that exist.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1220" y="1920240"/>
            <a:ext cx="3259226" cy="3703320"/>
          </a:xfrm>
          <a:prstGeom prst="roundRect">
            <a:avLst>
              <a:gd name="adj" fmla="val 4000"/>
            </a:avLst>
          </a:prstGeom>
          <a:solidFill>
            <a:srgbClr val="F4F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091220" y="1920240"/>
            <a:ext cx="3259226" cy="457200"/>
          </a:xfrm>
          <a:prstGeom prst="roundRect">
            <a:avLst>
              <a:gd name="adj" fmla="val 0"/>
            </a:avLst>
          </a:prstGeom>
          <a:solidFill>
            <a:srgbClr val="8232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91220" y="1975104"/>
            <a:ext cx="325922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Helvetica Neue"/>
              </a:rPr>
              <a:t>LONGER-TERM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3828" y="2578608"/>
            <a:ext cx="2674010" cy="2926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350" b="1" i="0">
                <a:solidFill>
                  <a:srgbClr val="141414"/>
                </a:solidFill>
                <a:latin typeface="Helvetica Neue"/>
              </a:rPr>
              <a:t>Beyond Python</a:t>
            </a:r>
          </a:p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150" b="0" i="0">
                <a:solidFill>
                  <a:srgbClr val="57514F"/>
                </a:solidFill>
                <a:latin typeface="Helvetica Neue"/>
              </a:rPr>
              <a:t>Extend dependency resolution to additional package ecosystems.</a:t>
            </a:r>
          </a:p>
          <a:p>
            <a:pPr>
              <a:spcAft>
                <a:spcPts val="400"/>
              </a:spcAft>
            </a:pPr>
            <a:r>
              <a:rPr sz="1350" b="1" i="0">
                <a:solidFill>
                  <a:srgbClr val="141414"/>
                </a:solidFill>
                <a:latin typeface="Helvetica Neue"/>
              </a:rPr>
              <a:t>Configurable conda solve</a:t>
            </a:r>
          </a:p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150" b="0" i="0">
                <a:solidFill>
                  <a:srgbClr val="57514F"/>
                </a:solidFill>
                <a:latin typeface="Helvetica Neue"/>
              </a:rPr>
              <a:t>Platform and CUDA-aware solving — the one item deliberately deferred from this phase.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5806440"/>
            <a:ext cx="1050919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50" b="1" i="0">
                <a:solidFill>
                  <a:srgbClr val="141414"/>
                </a:solidFill>
                <a:latin typeface="Helvetica Neue"/>
              </a:rPr>
              <a:t>The through-line: move from a point-in-time snapshot to continuous, verifiable assurance.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" y="6382512"/>
            <a:ext cx="10509199" cy="10972"/>
          </a:xfrm>
          <a:prstGeom prst="rect">
            <a:avLst/>
          </a:prstGeom>
          <a:solidFill>
            <a:srgbClr val="B5AD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1248" y="643737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1" i="0">
                <a:solidFill>
                  <a:srgbClr val="787070"/>
                </a:solidFill>
                <a:latin typeface="Helvetica Neue"/>
              </a:rPr>
              <a:t>Generate SBOM</a:t>
            </a:r>
            <a:r>
              <a:rPr sz="900" b="0" i="0">
                <a:solidFill>
                  <a:srgbClr val="787070"/>
                </a:solidFill>
                <a:latin typeface="Helvetica Neue"/>
              </a:rPr>
              <a:t>   ·   Project overview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21647" y="6437376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i="0">
                <a:solidFill>
                  <a:srgbClr val="787070"/>
                </a:solidFill>
                <a:latin typeface="Helvetica Neue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1248" y="566928"/>
            <a:ext cx="1050919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50" b="1" i="0">
                <a:solidFill>
                  <a:srgbClr val="D71E28"/>
                </a:solidFill>
                <a:latin typeface="Helvetica Neue"/>
              </a:rPr>
              <a:t>REFERENCE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841248" y="877824"/>
            <a:ext cx="548640" cy="50292"/>
          </a:xfrm>
          <a:prstGeom prst="rect">
            <a:avLst/>
          </a:prstGeom>
          <a:solidFill>
            <a:srgbClr val="FFCD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859536"/>
            <a:ext cx="10509199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000" b="1" i="0">
                <a:solidFill>
                  <a:srgbClr val="141414"/>
                </a:solidFill>
                <a:latin typeface="Helvetica Neue"/>
              </a:rPr>
              <a:t>Terms &amp; abbreviations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737360"/>
            <a:ext cx="4980279" cy="47986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00"/>
              </a:spcAft>
            </a:pPr>
            <a:r>
              <a:rPr sz="1200" b="1" i="0" dirty="0">
                <a:solidFill>
                  <a:srgbClr val="D71E28"/>
                </a:solidFill>
                <a:latin typeface="Helvetica Neue"/>
              </a:rPr>
              <a:t>SBOM</a:t>
            </a:r>
          </a:p>
          <a:p>
            <a:pPr>
              <a:lnSpc>
                <a:spcPct val="102000"/>
              </a:lnSpc>
              <a:spcAft>
                <a:spcPts val="900"/>
              </a:spcAft>
            </a:pPr>
            <a:r>
              <a:rPr sz="1050" b="0" i="0" dirty="0">
                <a:solidFill>
                  <a:srgbClr val="57514F"/>
                </a:solidFill>
                <a:latin typeface="Helvetica Neue"/>
              </a:rPr>
              <a:t>Software Bill of Materials — a machine-readable inventory of every component in a piece of software.</a:t>
            </a:r>
          </a:p>
          <a:p>
            <a:pPr>
              <a:spcAft>
                <a:spcPts val="100"/>
              </a:spcAft>
            </a:pPr>
            <a:r>
              <a:rPr sz="1200" b="1" i="0" dirty="0" err="1">
                <a:solidFill>
                  <a:srgbClr val="D71E28"/>
                </a:solidFill>
                <a:latin typeface="Helvetica Neue"/>
              </a:rPr>
              <a:t>CycloneDX</a:t>
            </a:r>
            <a:endParaRPr sz="1200" b="1" i="0" dirty="0">
              <a:solidFill>
                <a:srgbClr val="D71E28"/>
              </a:solidFill>
              <a:latin typeface="Helvetica Neue"/>
            </a:endParaRPr>
          </a:p>
          <a:p>
            <a:pPr>
              <a:lnSpc>
                <a:spcPct val="102000"/>
              </a:lnSpc>
              <a:spcAft>
                <a:spcPts val="900"/>
              </a:spcAft>
            </a:pPr>
            <a:r>
              <a:rPr sz="1050" b="0" i="0" dirty="0">
                <a:solidFill>
                  <a:srgbClr val="57514F"/>
                </a:solidFill>
                <a:latin typeface="Helvetica Neue"/>
              </a:rPr>
              <a:t>An OWASP SBOM standard; the app emits both JSON and XML.</a:t>
            </a:r>
          </a:p>
          <a:p>
            <a:pPr>
              <a:spcAft>
                <a:spcPts val="100"/>
              </a:spcAft>
            </a:pPr>
            <a:r>
              <a:rPr sz="1200" b="1" i="0" dirty="0">
                <a:solidFill>
                  <a:srgbClr val="D71E28"/>
                </a:solidFill>
                <a:latin typeface="Helvetica Neue"/>
              </a:rPr>
              <a:t>SPDX</a:t>
            </a:r>
          </a:p>
          <a:p>
            <a:pPr>
              <a:lnSpc>
                <a:spcPct val="102000"/>
              </a:lnSpc>
              <a:spcAft>
                <a:spcPts val="900"/>
              </a:spcAft>
            </a:pPr>
            <a:r>
              <a:rPr sz="1050" b="0" i="0" dirty="0">
                <a:solidFill>
                  <a:srgbClr val="57514F"/>
                </a:solidFill>
                <a:latin typeface="Helvetica Neue"/>
              </a:rPr>
              <a:t>A Linux Foundation SBOM standard (version 2.3 supported here).</a:t>
            </a:r>
          </a:p>
          <a:p>
            <a:pPr>
              <a:spcAft>
                <a:spcPts val="100"/>
              </a:spcAft>
            </a:pPr>
            <a:r>
              <a:rPr sz="1200" b="1" i="0" dirty="0">
                <a:solidFill>
                  <a:srgbClr val="D71E28"/>
                </a:solidFill>
                <a:latin typeface="Helvetica Neue"/>
              </a:rPr>
              <a:t>CVE</a:t>
            </a:r>
          </a:p>
          <a:p>
            <a:pPr>
              <a:lnSpc>
                <a:spcPct val="102000"/>
              </a:lnSpc>
              <a:spcAft>
                <a:spcPts val="900"/>
              </a:spcAft>
            </a:pPr>
            <a:r>
              <a:rPr sz="1050" b="0" i="0" dirty="0">
                <a:solidFill>
                  <a:srgbClr val="57514F"/>
                </a:solidFill>
                <a:latin typeface="Helvetica Neue"/>
              </a:rPr>
              <a:t>Common Vulnerabilities and Exposures — a public identifier for a known security flaw.</a:t>
            </a:r>
          </a:p>
          <a:p>
            <a:pPr>
              <a:spcAft>
                <a:spcPts val="100"/>
              </a:spcAft>
            </a:pPr>
            <a:r>
              <a:rPr sz="1200" b="1" i="0" dirty="0">
                <a:solidFill>
                  <a:srgbClr val="D71E28"/>
                </a:solidFill>
                <a:latin typeface="Helvetica Neue"/>
              </a:rPr>
              <a:t>VEX</a:t>
            </a:r>
          </a:p>
          <a:p>
            <a:pPr>
              <a:lnSpc>
                <a:spcPct val="102000"/>
              </a:lnSpc>
              <a:spcAft>
                <a:spcPts val="900"/>
              </a:spcAft>
            </a:pPr>
            <a:r>
              <a:rPr sz="1050" b="0" i="0" dirty="0">
                <a:solidFill>
                  <a:srgbClr val="57514F"/>
                </a:solidFill>
                <a:latin typeface="Helvetica Neue"/>
              </a:rPr>
              <a:t>Vulnerability Exploitability </a:t>
            </a:r>
            <a:r>
              <a:rPr sz="1050" b="0" i="0" dirty="0" err="1">
                <a:solidFill>
                  <a:srgbClr val="57514F"/>
                </a:solidFill>
                <a:latin typeface="Helvetica Neue"/>
              </a:rPr>
              <a:t>eXchange</a:t>
            </a:r>
            <a:r>
              <a:rPr sz="1050" b="0" i="0" dirty="0">
                <a:solidFill>
                  <a:srgbClr val="57514F"/>
                </a:solidFill>
                <a:latin typeface="Helvetica Neue"/>
              </a:rPr>
              <a:t> — a statement of whether a known flaw </a:t>
            </a:r>
            <a:r>
              <a:rPr lang="en-US" sz="1050" b="0" i="0" dirty="0">
                <a:solidFill>
                  <a:srgbClr val="57514F"/>
                </a:solidFill>
                <a:latin typeface="Helvetica Neue"/>
              </a:rPr>
              <a:t>affects</a:t>
            </a:r>
            <a:r>
              <a:rPr sz="1050" b="0" i="0" dirty="0">
                <a:solidFill>
                  <a:srgbClr val="57514F"/>
                </a:solidFill>
                <a:latin typeface="Helvetica Neue"/>
              </a:rPr>
              <a:t> a product.</a:t>
            </a:r>
          </a:p>
          <a:p>
            <a:pPr>
              <a:spcAft>
                <a:spcPts val="100"/>
              </a:spcAft>
            </a:pPr>
            <a:r>
              <a:rPr sz="1200" b="1" i="0" dirty="0">
                <a:solidFill>
                  <a:srgbClr val="D71E28"/>
                </a:solidFill>
                <a:latin typeface="Helvetica Neue"/>
              </a:rPr>
              <a:t>Transitive dependency</a:t>
            </a:r>
          </a:p>
          <a:p>
            <a:pPr>
              <a:lnSpc>
                <a:spcPct val="102000"/>
              </a:lnSpc>
              <a:spcAft>
                <a:spcPts val="900"/>
              </a:spcAft>
            </a:pPr>
            <a:r>
              <a:rPr sz="1050" b="0" i="0" dirty="0">
                <a:solidFill>
                  <a:srgbClr val="57514F"/>
                </a:solidFill>
                <a:latin typeface="Helvetica Neue"/>
              </a:rPr>
              <a:t>A library pulled in indirectly by another dependency, not declared by you directly.</a:t>
            </a:r>
          </a:p>
          <a:p>
            <a:pPr>
              <a:spcAft>
                <a:spcPts val="100"/>
              </a:spcAft>
            </a:pPr>
            <a:r>
              <a:rPr lang="en-US" sz="1200" b="1" dirty="0">
                <a:solidFill>
                  <a:srgbClr val="D71E28"/>
                </a:solidFill>
                <a:latin typeface="Helvetica Neue"/>
              </a:rPr>
              <a:t>Manifest</a:t>
            </a:r>
          </a:p>
          <a:p>
            <a:pPr>
              <a:lnSpc>
                <a:spcPct val="102000"/>
              </a:lnSpc>
              <a:spcAft>
                <a:spcPts val="900"/>
              </a:spcAft>
            </a:pPr>
            <a:r>
              <a:rPr lang="en-US" sz="1050" dirty="0">
                <a:solidFill>
                  <a:srgbClr val="57514F"/>
                </a:solidFill>
                <a:latin typeface="Helvetica Neue"/>
              </a:rPr>
              <a:t>The file that declares a project's dependencies (e.g., </a:t>
            </a:r>
            <a:r>
              <a:rPr lang="en-US" sz="1050" dirty="0" err="1">
                <a:solidFill>
                  <a:srgbClr val="57514F"/>
                </a:solidFill>
                <a:latin typeface="Helvetica Neue"/>
              </a:rPr>
              <a:t>requirements.txt</a:t>
            </a:r>
            <a:r>
              <a:rPr lang="en-US" sz="1050" dirty="0">
                <a:solidFill>
                  <a:srgbClr val="57514F"/>
                </a:solidFill>
                <a:latin typeface="Helvetica Neue"/>
              </a:rPr>
              <a:t>, </a:t>
            </a:r>
            <a:r>
              <a:rPr lang="en-US" sz="1050" dirty="0" err="1">
                <a:solidFill>
                  <a:srgbClr val="57514F"/>
                </a:solidFill>
                <a:latin typeface="Helvetica Neue"/>
              </a:rPr>
              <a:t>pyproject.toml</a:t>
            </a:r>
            <a:r>
              <a:rPr lang="en-US" sz="1050" dirty="0">
                <a:solidFill>
                  <a:srgbClr val="57514F"/>
                </a:solidFill>
                <a:latin typeface="Helvetica Neue"/>
              </a:rPr>
              <a:t>).</a:t>
            </a:r>
          </a:p>
          <a:p>
            <a:pPr>
              <a:spcAft>
                <a:spcPts val="100"/>
              </a:spcAft>
            </a:pPr>
            <a:r>
              <a:rPr lang="en-US" sz="1200" b="1" dirty="0">
                <a:solidFill>
                  <a:srgbClr val="D71E28"/>
                </a:solidFill>
                <a:latin typeface="Helvetica Neue"/>
              </a:rPr>
              <a:t>OSV</a:t>
            </a:r>
          </a:p>
          <a:p>
            <a:pPr>
              <a:lnSpc>
                <a:spcPct val="102000"/>
              </a:lnSpc>
              <a:spcAft>
                <a:spcPts val="900"/>
              </a:spcAft>
            </a:pPr>
            <a:r>
              <a:rPr lang="en-US" sz="1050" dirty="0">
                <a:solidFill>
                  <a:srgbClr val="57514F"/>
                </a:solidFill>
                <a:latin typeface="Helvetica Neue"/>
              </a:rPr>
              <a:t>Open-Source Vulnerabilities — a distributed vulnerability database for Open-Source projects.</a:t>
            </a:r>
          </a:p>
          <a:p>
            <a:pPr>
              <a:lnSpc>
                <a:spcPct val="102000"/>
              </a:lnSpc>
              <a:spcAft>
                <a:spcPts val="900"/>
              </a:spcAft>
            </a:pPr>
            <a:endParaRPr lang="en-US" sz="1050" dirty="0">
              <a:solidFill>
                <a:srgbClr val="57514F"/>
              </a:solidFill>
              <a:latin typeface="Helvetica Neue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370167" y="1737360"/>
            <a:ext cx="4980279" cy="4480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00"/>
              </a:spcAft>
            </a:pPr>
            <a:r>
              <a:rPr sz="1200" b="1" i="0">
                <a:solidFill>
                  <a:srgbClr val="D71E28"/>
                </a:solidFill>
                <a:latin typeface="Helvetica Neue"/>
              </a:rPr>
              <a:t>PyPI</a:t>
            </a:r>
          </a:p>
          <a:p>
            <a:pPr>
              <a:lnSpc>
                <a:spcPct val="102000"/>
              </a:lnSpc>
              <a:spcAft>
                <a:spcPts val="900"/>
              </a:spcAft>
            </a:pPr>
            <a:r>
              <a:rPr sz="1050" b="0" i="0">
                <a:solidFill>
                  <a:srgbClr val="57514F"/>
                </a:solidFill>
                <a:latin typeface="Helvetica Neue"/>
              </a:rPr>
              <a:t>The Python Package Index — the primary source of Python packages.</a:t>
            </a:r>
          </a:p>
          <a:p>
            <a:pPr>
              <a:spcAft>
                <a:spcPts val="100"/>
              </a:spcAft>
            </a:pPr>
            <a:r>
              <a:rPr sz="1200" b="1" i="0">
                <a:solidFill>
                  <a:srgbClr val="D71E28"/>
                </a:solidFill>
                <a:latin typeface="Helvetica Neue"/>
              </a:rPr>
              <a:t>conda-forge</a:t>
            </a:r>
          </a:p>
          <a:p>
            <a:pPr>
              <a:lnSpc>
                <a:spcPct val="102000"/>
              </a:lnSpc>
              <a:spcAft>
                <a:spcPts val="900"/>
              </a:spcAft>
            </a:pPr>
            <a:r>
              <a:rPr sz="1050" b="0" i="0">
                <a:solidFill>
                  <a:srgbClr val="57514F"/>
                </a:solidFill>
                <a:latin typeface="Helvetica Neue"/>
              </a:rPr>
              <a:t>A community-run package repository for the conda ecosystem.</a:t>
            </a:r>
          </a:p>
          <a:p>
            <a:pPr>
              <a:spcAft>
                <a:spcPts val="100"/>
              </a:spcAft>
            </a:pPr>
            <a:r>
              <a:rPr sz="1200" b="1" i="0">
                <a:solidFill>
                  <a:srgbClr val="D71E28"/>
                </a:solidFill>
                <a:latin typeface="Helvetica Neue"/>
              </a:rPr>
              <a:t>Version currency</a:t>
            </a:r>
          </a:p>
          <a:p>
            <a:pPr>
              <a:lnSpc>
                <a:spcPct val="102000"/>
              </a:lnSpc>
              <a:spcAft>
                <a:spcPts val="900"/>
              </a:spcAft>
            </a:pPr>
            <a:r>
              <a:rPr sz="1050" b="0" i="0">
                <a:solidFill>
                  <a:srgbClr val="57514F"/>
                </a:solidFill>
                <a:latin typeface="Helvetica Neue"/>
              </a:rPr>
              <a:t>How far behind the latest release each dependency is running.</a:t>
            </a:r>
          </a:p>
          <a:p>
            <a:pPr>
              <a:spcAft>
                <a:spcPts val="100"/>
              </a:spcAft>
            </a:pPr>
            <a:r>
              <a:rPr sz="1200" b="1" i="0">
                <a:solidFill>
                  <a:srgbClr val="D71E28"/>
                </a:solidFill>
                <a:latin typeface="Helvetica Neue"/>
              </a:rPr>
              <a:t>EOL / LTS</a:t>
            </a:r>
          </a:p>
          <a:p>
            <a:pPr>
              <a:lnSpc>
                <a:spcPct val="102000"/>
              </a:lnSpc>
              <a:spcAft>
                <a:spcPts val="900"/>
              </a:spcAft>
            </a:pPr>
            <a:r>
              <a:rPr sz="1050" b="0" i="0">
                <a:solidFill>
                  <a:srgbClr val="57514F"/>
                </a:solidFill>
                <a:latin typeface="Helvetica Neue"/>
              </a:rPr>
              <a:t>End of Life / Long-Term Support — whether a version still receives updates.</a:t>
            </a:r>
          </a:p>
          <a:p>
            <a:pPr>
              <a:spcAft>
                <a:spcPts val="100"/>
              </a:spcAft>
            </a:pPr>
            <a:r>
              <a:rPr sz="1200" b="1" i="0">
                <a:solidFill>
                  <a:srgbClr val="D71E28"/>
                </a:solidFill>
                <a:latin typeface="Helvetica Neue"/>
              </a:rPr>
              <a:t>Copyleft / Permissive</a:t>
            </a:r>
          </a:p>
          <a:p>
            <a:pPr>
              <a:lnSpc>
                <a:spcPct val="102000"/>
              </a:lnSpc>
              <a:spcAft>
                <a:spcPts val="900"/>
              </a:spcAft>
            </a:pPr>
            <a:r>
              <a:rPr sz="1050" b="0" i="0">
                <a:solidFill>
                  <a:srgbClr val="57514F"/>
                </a:solidFill>
                <a:latin typeface="Helvetica Neue"/>
              </a:rPr>
              <a:t>Licence families; copyleft can impose obligations on distributed software, permissive generally does not.</a:t>
            </a:r>
          </a:p>
          <a:p>
            <a:pPr>
              <a:spcAft>
                <a:spcPts val="100"/>
              </a:spcAft>
            </a:pPr>
            <a:r>
              <a:rPr sz="1200" b="1" i="0">
                <a:solidFill>
                  <a:srgbClr val="D71E28"/>
                </a:solidFill>
                <a:latin typeface="Helvetica Neue"/>
              </a:rPr>
              <a:t>CRA</a:t>
            </a:r>
          </a:p>
          <a:p>
            <a:pPr>
              <a:lnSpc>
                <a:spcPct val="102000"/>
              </a:lnSpc>
              <a:spcAft>
                <a:spcPts val="900"/>
              </a:spcAft>
            </a:pPr>
            <a:r>
              <a:rPr sz="1050" b="0" i="0">
                <a:solidFill>
                  <a:srgbClr val="57514F"/>
                </a:solidFill>
                <a:latin typeface="Helvetica Neue"/>
              </a:rPr>
              <a:t>EU Cyber Resilience Act — regulation requiring an SBOM for products sold in the EU (effective 2027).</a:t>
            </a:r>
          </a:p>
          <a:p>
            <a:pPr>
              <a:spcAft>
                <a:spcPts val="100"/>
              </a:spcAft>
            </a:pPr>
            <a:r>
              <a:rPr sz="1200" b="1" i="0">
                <a:solidFill>
                  <a:srgbClr val="D71E28"/>
                </a:solidFill>
                <a:latin typeface="Helvetica Neue"/>
              </a:rPr>
              <a:t>Global admin</a:t>
            </a:r>
          </a:p>
          <a:p>
            <a:pPr>
              <a:lnSpc>
                <a:spcPct val="102000"/>
              </a:lnSpc>
              <a:spcAft>
                <a:spcPts val="900"/>
              </a:spcAft>
            </a:pPr>
            <a:r>
              <a:rPr sz="1050" b="0" i="0">
                <a:solidFill>
                  <a:srgbClr val="57514F"/>
                </a:solidFill>
                <a:latin typeface="Helvetica Neue"/>
              </a:rPr>
              <a:t>An account that administers the whole installation across every organisation.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6382512"/>
            <a:ext cx="10509199" cy="10972"/>
          </a:xfrm>
          <a:prstGeom prst="rect">
            <a:avLst/>
          </a:prstGeom>
          <a:solidFill>
            <a:srgbClr val="B5AD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" y="643737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1" i="0">
                <a:solidFill>
                  <a:srgbClr val="787070"/>
                </a:solidFill>
                <a:latin typeface="Helvetica Neue"/>
              </a:rPr>
              <a:t>Generate SBOM</a:t>
            </a:r>
            <a:r>
              <a:rPr sz="900" b="0" i="0">
                <a:solidFill>
                  <a:srgbClr val="787070"/>
                </a:solidFill>
                <a:latin typeface="Helvetica Neue"/>
              </a:rPr>
              <a:t>   ·   Project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21647" y="6437376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i="0">
                <a:solidFill>
                  <a:srgbClr val="787070"/>
                </a:solidFill>
                <a:latin typeface="Helvetica Neue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7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41248" y="1371600"/>
            <a:ext cx="640080" cy="640080"/>
          </a:xfrm>
          <a:prstGeom prst="roundRect">
            <a:avLst>
              <a:gd name="adj" fmla="val 28000"/>
            </a:avLst>
          </a:prstGeom>
          <a:solidFill>
            <a:srgbClr val="D7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379" b="1" i="0">
                <a:solidFill>
                  <a:srgbClr val="FFCD41"/>
                </a:solidFill>
                <a:latin typeface="Helvetica Neue"/>
              </a:rPr>
              <a:t>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27632" y="1335024"/>
            <a:ext cx="4572000" cy="73151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Helvetica Neue"/>
              </a:rPr>
              <a:t>Generate </a:t>
            </a:r>
            <a:r>
              <a:rPr sz="2600" b="1" i="0">
                <a:solidFill>
                  <a:srgbClr val="D71E28"/>
                </a:solidFill>
                <a:latin typeface="Helvetica Neue"/>
              </a:rPr>
              <a:t>SBOM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743200"/>
            <a:ext cx="987552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Helvetica Neue"/>
              </a:rPr>
              <a:t>Know what's inside your software —</a:t>
            </a:r>
          </a:p>
          <a:p>
            <a:r>
              <a:rPr sz="3000" b="1" i="0">
                <a:solidFill>
                  <a:srgbClr val="FFCD41"/>
                </a:solidFill>
                <a:latin typeface="Helvetica Neue"/>
              </a:rPr>
              <a:t>before someone else has to ask.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663440"/>
            <a:ext cx="10058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400" b="0" i="0">
                <a:solidFill>
                  <a:srgbClr val="B5ADAD"/>
                </a:solidFill>
                <a:latin typeface="Helvetica Neue"/>
              </a:rPr>
              <a:t>Self-hosted · open source · Apache 2.0 — deployable in minutes with a single command.</a:t>
            </a:r>
          </a:p>
          <a:p>
            <a:r>
              <a:rPr sz="1400" b="0" i="0">
                <a:solidFill>
                  <a:srgbClr val="B5ADAD"/>
                </a:solidFill>
                <a:latin typeface="Helvetica Neue"/>
              </a:rPr>
              <a:t>Full documentation and REST API ship with the platform.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199632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1" i="0">
                <a:solidFill>
                  <a:srgbClr val="FFCD41"/>
                </a:solidFill>
                <a:latin typeface="Helvetica Neue"/>
              </a:rPr>
              <a:t>Questions welcome.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1711</Words>
  <Application>Microsoft Macintosh PowerPoint</Application>
  <PresentationFormat>Widescreen</PresentationFormat>
  <Paragraphs>178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Courier New</vt:lpstr>
      <vt:lpstr>Helvetica Neue</vt:lpstr>
      <vt:lpstr>Helvetica Neue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Generate SBOM — Project Overview</dc:title>
  <dc:subject>Software Bill of Materials platform for Python</dc:subject>
  <dc:creator>Kevin Mills</dc:creator>
  <cp:keywords/>
  <dc:description>generated using python-pptx</dc:description>
  <cp:lastModifiedBy>Kevin Mills</cp:lastModifiedBy>
  <cp:revision>4</cp:revision>
  <dcterms:created xsi:type="dcterms:W3CDTF">2013-01-27T09:14:16Z</dcterms:created>
  <dcterms:modified xsi:type="dcterms:W3CDTF">2026-07-06T13:27:11Z</dcterms:modified>
  <cp:category>Executive overview</cp:category>
</cp:coreProperties>
</file>